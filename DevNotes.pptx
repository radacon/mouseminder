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70" r:id="rId11"/>
    <p:sldId id="269" r:id="rId12"/>
    <p:sldId id="268" r:id="rId13"/>
    <p:sldId id="272" r:id="rId14"/>
    <p:sldId id="271" r:id="rId15"/>
    <p:sldId id="273" r:id="rId16"/>
    <p:sldId id="274" r:id="rId17"/>
    <p:sldId id="275" r:id="rId18"/>
    <p:sldId id="276" r:id="rId19"/>
    <p:sldId id="277" r:id="rId20"/>
    <p:sldId id="278" r:id="rId21"/>
    <p:sldId id="279" r:id="rId22"/>
    <p:sldId id="280" r:id="rId23"/>
    <p:sldId id="281" r:id="rId24"/>
    <p:sldId id="282" r:id="rId25"/>
    <p:sldId id="284" r:id="rId26"/>
    <p:sldId id="285" r:id="rId27"/>
    <p:sldId id="286" r:id="rId28"/>
    <p:sldId id="287" r:id="rId29"/>
    <p:sldId id="288" r:id="rId30"/>
    <p:sldId id="289" r:id="rId31"/>
    <p:sldId id="306" r:id="rId32"/>
    <p:sldId id="290" r:id="rId33"/>
    <p:sldId id="291" r:id="rId34"/>
    <p:sldId id="294" r:id="rId35"/>
    <p:sldId id="292" r:id="rId36"/>
    <p:sldId id="293" r:id="rId37"/>
    <p:sldId id="295" r:id="rId38"/>
    <p:sldId id="296" r:id="rId39"/>
    <p:sldId id="297" r:id="rId40"/>
    <p:sldId id="298" r:id="rId41"/>
    <p:sldId id="299" r:id="rId42"/>
    <p:sldId id="300" r:id="rId43"/>
    <p:sldId id="301" r:id="rId44"/>
    <p:sldId id="302" r:id="rId45"/>
    <p:sldId id="303" r:id="rId46"/>
    <p:sldId id="304" r:id="rId47"/>
    <p:sldId id="305" r:id="rId48"/>
    <p:sldId id="307" r:id="rId49"/>
    <p:sldId id="308" r:id="rId50"/>
    <p:sldId id="310" r:id="rId51"/>
    <p:sldId id="309" r:id="rId5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08EA6-AEF9-45C4-91C3-81FED86A1B71}" v="60" dt="2026-04-03T04:28:48.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905" autoAdjust="0"/>
  </p:normalViewPr>
  <p:slideViewPr>
    <p:cSldViewPr snapToGrid="0">
      <p:cViewPr varScale="1">
        <p:scale>
          <a:sx n="80" d="100"/>
          <a:sy n="80" d="100"/>
        </p:scale>
        <p:origin x="114" y="10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D737E638-E290-4AD4-85D8-F975125FF173}" type="datetimeFigureOut">
              <a:rPr lang="en-US" smtClean="0"/>
              <a:t>4/9/2026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26CB7B0-6E4B-4DBA-8FDB-132A82FE221D}" type="slidenum">
              <a:rPr lang="en-US" smtClean="0"/>
              <a:t>‹#›</a:t>
            </a:fld>
            <a:endParaRPr lang="en-US"/>
          </a:p>
        </p:txBody>
      </p:sp>
    </p:spTree>
    <p:extLst>
      <p:ext uri="{BB962C8B-B14F-4D97-AF65-F5344CB8AC3E}">
        <p14:creationId xmlns:p14="http://schemas.microsoft.com/office/powerpoint/2010/main" val="2627107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6CB7B0-6E4B-4DBA-8FDB-132A82FE221D}" type="slidenum">
              <a:rPr lang="en-US" smtClean="0"/>
              <a:t>29</a:t>
            </a:fld>
            <a:endParaRPr lang="en-US"/>
          </a:p>
        </p:txBody>
      </p:sp>
    </p:spTree>
    <p:extLst>
      <p:ext uri="{BB962C8B-B14F-4D97-AF65-F5344CB8AC3E}">
        <p14:creationId xmlns:p14="http://schemas.microsoft.com/office/powerpoint/2010/main" val="1342049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3B56B-E43E-5967-A10F-A46760A501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918A97-2D3A-24A9-3B55-F1AD75BA8D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C3E66E-FB56-5D8B-7C91-02E5B7827452}"/>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55A65C8D-7EC5-76D9-E9F9-5EF61FB6D2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D8066-74C6-5A28-F70A-E81A036A4012}"/>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221041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F5B09-8994-4F50-F3D7-189BE1713B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191853-FA3B-CEFC-97A1-15529CA344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BEAF0-11C2-4C90-109D-CEB8867F6B5B}"/>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25F893CC-7091-6D49-86AF-62480EAD6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7AA27-65A6-5318-30F3-AC54C0874951}"/>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39711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8121E-BC54-920E-BB50-F7751754EA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3E4DE6-3BE8-94D8-A64A-7550F47EAF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6A063-440D-E63B-2E4A-F0281868FD67}"/>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F243AA06-D355-8338-EDE8-F7B13C43E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396C8-CAD1-4F7A-CC39-54FF795B2BBE}"/>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323508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D6089-0925-241F-E748-747621B3DF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AB6146-BACD-BD72-E1BD-E275740EE2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B0BE44-9045-FF0C-2D60-0BD816A67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FF08A-554D-F4F0-4438-CEB0EB67E0F3}"/>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6" name="Footer Placeholder 5">
            <a:extLst>
              <a:ext uri="{FF2B5EF4-FFF2-40B4-BE49-F238E27FC236}">
                <a16:creationId xmlns:a16="http://schemas.microsoft.com/office/drawing/2014/main" id="{F22DC4FE-2F5E-1E39-8FD6-53D708A87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79DEF-42E1-9B12-930F-10E32DBDD792}"/>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444860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A097-0816-8DA9-7019-DFE0136934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0FCC36-328C-E8A1-E996-22683892C4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87546A-B262-BBAA-A73A-001158EEE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D7F7A2-6CC0-8A5E-73E5-A57B1536E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5660A2-8154-B3EB-17C0-CE328D4574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30546-E34C-9FE7-4DB6-D6FC0D44B761}"/>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8" name="Footer Placeholder 7">
            <a:extLst>
              <a:ext uri="{FF2B5EF4-FFF2-40B4-BE49-F238E27FC236}">
                <a16:creationId xmlns:a16="http://schemas.microsoft.com/office/drawing/2014/main" id="{2B69BCE7-5062-760C-C394-AC67335E77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6006B-6BB4-B82D-95DC-F40DCD899774}"/>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4203117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AC8E-CF24-F60A-10A2-E185677E2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588A41-204F-6292-AE01-33ABF1996D65}"/>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4" name="Footer Placeholder 3">
            <a:extLst>
              <a:ext uri="{FF2B5EF4-FFF2-40B4-BE49-F238E27FC236}">
                <a16:creationId xmlns:a16="http://schemas.microsoft.com/office/drawing/2014/main" id="{625A387C-BD91-66D8-484B-347AD34B8A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521E6A-8560-ADFB-B463-0AA4CAACEA00}"/>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411482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9C9BE9-3A04-8D21-CF71-B573526AA4CE}"/>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3" name="Footer Placeholder 2">
            <a:extLst>
              <a:ext uri="{FF2B5EF4-FFF2-40B4-BE49-F238E27FC236}">
                <a16:creationId xmlns:a16="http://schemas.microsoft.com/office/drawing/2014/main" id="{51DE2300-5842-263F-C8FC-1DB93FED7B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983D45-C56C-085F-A8AA-0FA20B225ECA}"/>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324799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1A3A-7614-E301-C136-24794C3DC6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E4202F-1DC2-54A4-E7C5-D7AE352EA7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F75A74-88BE-2A48-4CF0-1A2F646A0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891E4E-D195-9A82-CF85-52E05E675C67}"/>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6" name="Footer Placeholder 5">
            <a:extLst>
              <a:ext uri="{FF2B5EF4-FFF2-40B4-BE49-F238E27FC236}">
                <a16:creationId xmlns:a16="http://schemas.microsoft.com/office/drawing/2014/main" id="{35AD92D6-E25C-1CCC-8009-825CEAD171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12356-19EB-6E8F-5EE1-898A762D37CA}"/>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1745245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CBCB-AE94-981F-8360-71AFDAF775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6ECD70-3F9C-41CD-6EC3-54C8EBDBFB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17A66-014C-C9CA-CA20-272FC546C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5303E7-8A69-0BAB-2166-3662ED991187}"/>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6" name="Footer Placeholder 5">
            <a:extLst>
              <a:ext uri="{FF2B5EF4-FFF2-40B4-BE49-F238E27FC236}">
                <a16:creationId xmlns:a16="http://schemas.microsoft.com/office/drawing/2014/main" id="{284929AE-F50A-3AE1-C589-EB298FE77E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25E5CD-051F-B3F3-4D2B-1FA86BDDC1BD}"/>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2786895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5A825-F287-79F4-9DBB-0B3A9D15F9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BCD282-8530-1069-A51C-9778538580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342320-B64A-AF65-6960-2D18A4620E39}"/>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36211665-2E12-56C2-0F81-E4AC429E86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17D6DE-DECB-2AB6-2E5C-8290B3E95026}"/>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52640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6891C-EB11-5B87-C7D5-871F6E726A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C8352-6121-5D7A-22EB-A785F98750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81843-952C-0921-EF3B-FDAE42E72C21}"/>
              </a:ext>
            </a:extLst>
          </p:cNvPr>
          <p:cNvSpPr>
            <a:spLocks noGrp="1"/>
          </p:cNvSpPr>
          <p:nvPr>
            <p:ph type="dt" sz="half" idx="10"/>
          </p:nvPr>
        </p:nvSpPr>
        <p:spPr/>
        <p:txBody>
          <a:body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BB5011E6-F52B-ECA6-95F9-8050A34A0E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225E1F-99DC-C483-6CDE-C867626EE957}"/>
              </a:ext>
            </a:extLst>
          </p:cNvPr>
          <p:cNvSpPr>
            <a:spLocks noGrp="1"/>
          </p:cNvSpPr>
          <p:nvPr>
            <p:ph type="sldNum" sz="quarter" idx="12"/>
          </p:nvPr>
        </p:nvSpPr>
        <p:spPr/>
        <p:txBody>
          <a:bodyPr/>
          <a:lstStyle/>
          <a:p>
            <a:fld id="{6FA588CD-29A5-4278-AEAF-E11D241DD58C}" type="slidenum">
              <a:rPr lang="en-US" smtClean="0"/>
              <a:t>‹#›</a:t>
            </a:fld>
            <a:endParaRPr lang="en-US"/>
          </a:p>
        </p:txBody>
      </p:sp>
    </p:spTree>
    <p:extLst>
      <p:ext uri="{BB962C8B-B14F-4D97-AF65-F5344CB8AC3E}">
        <p14:creationId xmlns:p14="http://schemas.microsoft.com/office/powerpoint/2010/main" val="2907124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F6FC87-F75F-C16D-6278-7A820D3D5B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EE5DA3-4777-D0D3-02FD-782570802F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36689-DC94-BC2C-2A8A-F31A9A7B1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C5ECB4-5C0B-49EE-BF2D-A20F5B424E55}" type="datetimeFigureOut">
              <a:rPr lang="en-US" smtClean="0"/>
              <a:t>4/9/2026</a:t>
            </a:fld>
            <a:endParaRPr lang="en-US"/>
          </a:p>
        </p:txBody>
      </p:sp>
      <p:sp>
        <p:nvSpPr>
          <p:cNvPr id="5" name="Footer Placeholder 4">
            <a:extLst>
              <a:ext uri="{FF2B5EF4-FFF2-40B4-BE49-F238E27FC236}">
                <a16:creationId xmlns:a16="http://schemas.microsoft.com/office/drawing/2014/main" id="{9B5EDF68-F63A-3576-9F3F-4D7374EEEE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EE98A1-1911-A7AB-F22E-5D0DE6B572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A588CD-29A5-4278-AEAF-E11D241DD58C}" type="slidenum">
              <a:rPr lang="en-US" smtClean="0"/>
              <a:t>‹#›</a:t>
            </a:fld>
            <a:endParaRPr lang="en-US"/>
          </a:p>
        </p:txBody>
      </p:sp>
    </p:spTree>
    <p:extLst>
      <p:ext uri="{BB962C8B-B14F-4D97-AF65-F5344CB8AC3E}">
        <p14:creationId xmlns:p14="http://schemas.microsoft.com/office/powerpoint/2010/main" val="4289281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chatgpt.com/share/69bf128c-7c8c-8001-9b17-0a67c42d7913"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607DB-2366-EAC7-A6D9-073D11455BA6}"/>
              </a:ext>
            </a:extLst>
          </p:cNvPr>
          <p:cNvSpPr>
            <a:spLocks noGrp="1"/>
          </p:cNvSpPr>
          <p:nvPr>
            <p:ph type="ctrTitle"/>
          </p:nvPr>
        </p:nvSpPr>
        <p:spPr/>
        <p:txBody>
          <a:bodyPr/>
          <a:lstStyle/>
          <a:p>
            <a:r>
              <a:rPr lang="en-US" dirty="0"/>
              <a:t>Mouse Minder</a:t>
            </a:r>
          </a:p>
        </p:txBody>
      </p:sp>
      <p:sp>
        <p:nvSpPr>
          <p:cNvPr id="3" name="Subtitle 2">
            <a:extLst>
              <a:ext uri="{FF2B5EF4-FFF2-40B4-BE49-F238E27FC236}">
                <a16:creationId xmlns:a16="http://schemas.microsoft.com/office/drawing/2014/main" id="{03A7D8E1-06CA-6A2B-CAC5-B67E7B28EEF0}"/>
              </a:ext>
            </a:extLst>
          </p:cNvPr>
          <p:cNvSpPr>
            <a:spLocks noGrp="1"/>
          </p:cNvSpPr>
          <p:nvPr>
            <p:ph type="subTitle" idx="1"/>
          </p:nvPr>
        </p:nvSpPr>
        <p:spPr/>
        <p:txBody>
          <a:bodyPr/>
          <a:lstStyle/>
          <a:p>
            <a:r>
              <a:rPr lang="en-US" dirty="0"/>
              <a:t>Conrad Farnsworth</a:t>
            </a:r>
          </a:p>
        </p:txBody>
      </p:sp>
    </p:spTree>
    <p:extLst>
      <p:ext uri="{BB962C8B-B14F-4D97-AF65-F5344CB8AC3E}">
        <p14:creationId xmlns:p14="http://schemas.microsoft.com/office/powerpoint/2010/main" val="592212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5C3C-8258-4C7B-1E9E-67CD29DF13B9}"/>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9C77569B-225D-F9BF-6E65-F60F2A5FD941}"/>
              </a:ext>
            </a:extLst>
          </p:cNvPr>
          <p:cNvSpPr>
            <a:spLocks noGrp="1"/>
          </p:cNvSpPr>
          <p:nvPr>
            <p:ph idx="1"/>
          </p:nvPr>
        </p:nvSpPr>
        <p:spPr/>
        <p:txBody>
          <a:bodyPr/>
          <a:lstStyle/>
          <a:p>
            <a:r>
              <a:rPr lang="en-US" dirty="0"/>
              <a:t>Activate when a trap trips</a:t>
            </a:r>
          </a:p>
          <a:p>
            <a:r>
              <a:rPr lang="en-US" dirty="0"/>
              <a:t>Audible for 1 week</a:t>
            </a:r>
          </a:p>
          <a:p>
            <a:r>
              <a:rPr lang="en-US" dirty="0"/>
              <a:t>Replaceable battery</a:t>
            </a:r>
          </a:p>
          <a:p>
            <a:r>
              <a:rPr lang="en-US" dirty="0"/>
              <a:t>Clips on to any spring driven mouse trap</a:t>
            </a:r>
          </a:p>
          <a:p>
            <a:r>
              <a:rPr lang="en-US" dirty="0"/>
              <a:t>Resettable</a:t>
            </a:r>
          </a:p>
          <a:p>
            <a:r>
              <a:rPr lang="en-US" dirty="0"/>
              <a:t>Testable</a:t>
            </a:r>
          </a:p>
        </p:txBody>
      </p:sp>
    </p:spTree>
    <p:extLst>
      <p:ext uri="{BB962C8B-B14F-4D97-AF65-F5344CB8AC3E}">
        <p14:creationId xmlns:p14="http://schemas.microsoft.com/office/powerpoint/2010/main" val="987736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6203B-C833-8F7C-84F8-FFC78FEA5CD7}"/>
              </a:ext>
            </a:extLst>
          </p:cNvPr>
          <p:cNvSpPr>
            <a:spLocks noGrp="1"/>
          </p:cNvSpPr>
          <p:nvPr>
            <p:ph type="title"/>
          </p:nvPr>
        </p:nvSpPr>
        <p:spPr/>
        <p:txBody>
          <a:bodyPr/>
          <a:lstStyle/>
          <a:p>
            <a:r>
              <a:rPr lang="en-US" dirty="0"/>
              <a:t>First Prototype</a:t>
            </a:r>
          </a:p>
        </p:txBody>
      </p:sp>
      <p:pic>
        <p:nvPicPr>
          <p:cNvPr id="7" name="Picture 6">
            <a:extLst>
              <a:ext uri="{FF2B5EF4-FFF2-40B4-BE49-F238E27FC236}">
                <a16:creationId xmlns:a16="http://schemas.microsoft.com/office/drawing/2014/main" id="{91E7EE97-09FC-643D-59D3-8AC6F204E089}"/>
              </a:ext>
            </a:extLst>
          </p:cNvPr>
          <p:cNvPicPr>
            <a:picLocks noChangeAspect="1"/>
          </p:cNvPicPr>
          <p:nvPr/>
        </p:nvPicPr>
        <p:blipFill>
          <a:blip r:embed="rId2"/>
          <a:stretch>
            <a:fillRect/>
          </a:stretch>
        </p:blipFill>
        <p:spPr>
          <a:xfrm>
            <a:off x="253835" y="1765591"/>
            <a:ext cx="6506556" cy="4350124"/>
          </a:xfrm>
          <a:prstGeom prst="rect">
            <a:avLst/>
          </a:prstGeom>
        </p:spPr>
      </p:pic>
      <p:pic>
        <p:nvPicPr>
          <p:cNvPr id="5" name="Picture 4">
            <a:extLst>
              <a:ext uri="{FF2B5EF4-FFF2-40B4-BE49-F238E27FC236}">
                <a16:creationId xmlns:a16="http://schemas.microsoft.com/office/drawing/2014/main" id="{B7BDDEAA-CE00-EDD9-0DF4-244C975827F7}"/>
              </a:ext>
            </a:extLst>
          </p:cNvPr>
          <p:cNvPicPr>
            <a:picLocks noChangeAspect="1"/>
          </p:cNvPicPr>
          <p:nvPr/>
        </p:nvPicPr>
        <p:blipFill>
          <a:blip r:embed="rId3"/>
          <a:stretch>
            <a:fillRect/>
          </a:stretch>
        </p:blipFill>
        <p:spPr>
          <a:xfrm>
            <a:off x="5325035" y="1309442"/>
            <a:ext cx="6866965" cy="3607839"/>
          </a:xfrm>
          <a:prstGeom prst="rect">
            <a:avLst/>
          </a:prstGeom>
        </p:spPr>
      </p:pic>
    </p:spTree>
    <p:extLst>
      <p:ext uri="{BB962C8B-B14F-4D97-AF65-F5344CB8AC3E}">
        <p14:creationId xmlns:p14="http://schemas.microsoft.com/office/powerpoint/2010/main" val="2662296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E5B6D-D3F7-2CC0-CE54-D7996953D0E4}"/>
              </a:ext>
            </a:extLst>
          </p:cNvPr>
          <p:cNvSpPr>
            <a:spLocks noGrp="1"/>
          </p:cNvSpPr>
          <p:nvPr>
            <p:ph type="title"/>
          </p:nvPr>
        </p:nvSpPr>
        <p:spPr/>
        <p:txBody>
          <a:bodyPr/>
          <a:lstStyle/>
          <a:p>
            <a:r>
              <a:rPr lang="en-US" dirty="0"/>
              <a:t>Prototype Notes</a:t>
            </a:r>
          </a:p>
        </p:txBody>
      </p:sp>
      <p:sp>
        <p:nvSpPr>
          <p:cNvPr id="3" name="Content Placeholder 2">
            <a:extLst>
              <a:ext uri="{FF2B5EF4-FFF2-40B4-BE49-F238E27FC236}">
                <a16:creationId xmlns:a16="http://schemas.microsoft.com/office/drawing/2014/main" id="{B12B26FB-999E-5B88-E3B5-0B598BC77AF9}"/>
              </a:ext>
            </a:extLst>
          </p:cNvPr>
          <p:cNvSpPr>
            <a:spLocks noGrp="1"/>
          </p:cNvSpPr>
          <p:nvPr>
            <p:ph idx="1"/>
          </p:nvPr>
        </p:nvSpPr>
        <p:spPr/>
        <p:txBody>
          <a:bodyPr>
            <a:normAutofit fontScale="92500" lnSpcReduction="20000"/>
          </a:bodyPr>
          <a:lstStyle/>
          <a:p>
            <a:r>
              <a:rPr lang="en-US" dirty="0"/>
              <a:t>That just worked. My circuits never just work. </a:t>
            </a:r>
          </a:p>
          <a:p>
            <a:r>
              <a:rPr lang="en-US" dirty="0"/>
              <a:t>Things I want in V2</a:t>
            </a:r>
          </a:p>
          <a:p>
            <a:pPr lvl="1"/>
            <a:r>
              <a:rPr lang="en-US" dirty="0"/>
              <a:t>A louder buzzer (optional)</a:t>
            </a:r>
          </a:p>
          <a:p>
            <a:pPr lvl="2"/>
            <a:r>
              <a:rPr lang="en-US" dirty="0"/>
              <a:t>Looking at charge pumps/voltage doublers</a:t>
            </a:r>
          </a:p>
          <a:p>
            <a:pPr lvl="1"/>
            <a:r>
              <a:rPr lang="en-US" dirty="0"/>
              <a:t>Buzzer as a sensor</a:t>
            </a:r>
          </a:p>
          <a:p>
            <a:pPr lvl="2"/>
            <a:r>
              <a:rPr lang="en-US" dirty="0"/>
              <a:t>Bypass/isolate for just buzzer</a:t>
            </a:r>
          </a:p>
          <a:p>
            <a:pPr lvl="2"/>
            <a:r>
              <a:rPr lang="en-US" dirty="0"/>
              <a:t>Separate input for another sensor</a:t>
            </a:r>
          </a:p>
          <a:p>
            <a:pPr lvl="2"/>
            <a:r>
              <a:rPr lang="en-US" dirty="0"/>
              <a:t>1M pot for testing</a:t>
            </a:r>
          </a:p>
          <a:p>
            <a:pPr lvl="1"/>
            <a:r>
              <a:rPr lang="en-US" dirty="0"/>
              <a:t>Test button</a:t>
            </a:r>
          </a:p>
          <a:p>
            <a:pPr lvl="2"/>
            <a:r>
              <a:rPr lang="en-US" dirty="0"/>
              <a:t>I already had that but I want it as a button next</a:t>
            </a:r>
          </a:p>
          <a:p>
            <a:pPr lvl="1"/>
            <a:r>
              <a:rPr lang="en-US" dirty="0"/>
              <a:t>Battery holder </a:t>
            </a:r>
          </a:p>
          <a:p>
            <a:pPr lvl="2"/>
            <a:r>
              <a:rPr lang="en-US" dirty="0"/>
              <a:t>And pads for </a:t>
            </a:r>
            <a:r>
              <a:rPr lang="en-US" dirty="0" err="1"/>
              <a:t>ext</a:t>
            </a:r>
            <a:r>
              <a:rPr lang="en-US" dirty="0"/>
              <a:t> power</a:t>
            </a:r>
          </a:p>
          <a:p>
            <a:pPr lvl="1"/>
            <a:r>
              <a:rPr lang="en-US" dirty="0"/>
              <a:t>Buttons should be hard plastic so you can use a paper clip for reset/test</a:t>
            </a:r>
          </a:p>
          <a:p>
            <a:pPr lvl="1"/>
            <a:r>
              <a:rPr lang="en-US" dirty="0"/>
              <a:t>Mounting holes/extra clearance for mounting into a 3D print</a:t>
            </a:r>
          </a:p>
        </p:txBody>
      </p:sp>
    </p:spTree>
    <p:extLst>
      <p:ext uri="{BB962C8B-B14F-4D97-AF65-F5344CB8AC3E}">
        <p14:creationId xmlns:p14="http://schemas.microsoft.com/office/powerpoint/2010/main" val="2504665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E83A-CD43-9070-79C0-37990F73682E}"/>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27324902-A6DF-9B1B-6229-9BF37A97CB22}"/>
              </a:ext>
            </a:extLst>
          </p:cNvPr>
          <p:cNvSpPr>
            <a:spLocks noGrp="1"/>
          </p:cNvSpPr>
          <p:nvPr>
            <p:ph idx="1"/>
          </p:nvPr>
        </p:nvSpPr>
        <p:spPr/>
        <p:txBody>
          <a:bodyPr/>
          <a:lstStyle/>
          <a:p>
            <a:r>
              <a:rPr lang="en-US" dirty="0"/>
              <a:t>Buzzer as a sensor</a:t>
            </a:r>
          </a:p>
          <a:p>
            <a:pPr lvl="1"/>
            <a:r>
              <a:rPr lang="en-US" dirty="0"/>
              <a:t>Do not use the charge pump on this version, too many complications</a:t>
            </a:r>
          </a:p>
          <a:p>
            <a:pPr lvl="1"/>
            <a:r>
              <a:rPr lang="en-US" dirty="0"/>
              <a:t>Data looks good!</a:t>
            </a:r>
          </a:p>
        </p:txBody>
      </p:sp>
      <p:pic>
        <p:nvPicPr>
          <p:cNvPr id="5" name="Picture 4">
            <a:extLst>
              <a:ext uri="{FF2B5EF4-FFF2-40B4-BE49-F238E27FC236}">
                <a16:creationId xmlns:a16="http://schemas.microsoft.com/office/drawing/2014/main" id="{1A34DE21-DABC-7B5A-0C19-AABA80AF2C09}"/>
              </a:ext>
            </a:extLst>
          </p:cNvPr>
          <p:cNvPicPr>
            <a:picLocks noChangeAspect="1"/>
          </p:cNvPicPr>
          <p:nvPr/>
        </p:nvPicPr>
        <p:blipFill>
          <a:blip r:embed="rId2"/>
          <a:stretch>
            <a:fillRect/>
          </a:stretch>
        </p:blipFill>
        <p:spPr>
          <a:xfrm>
            <a:off x="2884393" y="3285093"/>
            <a:ext cx="5811371" cy="3026807"/>
          </a:xfrm>
          <a:prstGeom prst="rect">
            <a:avLst/>
          </a:prstGeom>
        </p:spPr>
      </p:pic>
    </p:spTree>
    <p:extLst>
      <p:ext uri="{BB962C8B-B14F-4D97-AF65-F5344CB8AC3E}">
        <p14:creationId xmlns:p14="http://schemas.microsoft.com/office/powerpoint/2010/main" val="41102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9143-E923-5CC5-4032-3D16F93E6BB5}"/>
              </a:ext>
            </a:extLst>
          </p:cNvPr>
          <p:cNvSpPr>
            <a:spLocks noGrp="1"/>
          </p:cNvSpPr>
          <p:nvPr>
            <p:ph type="title"/>
          </p:nvPr>
        </p:nvSpPr>
        <p:spPr/>
        <p:txBody>
          <a:bodyPr/>
          <a:lstStyle/>
          <a:p>
            <a:r>
              <a:rPr lang="en-US" dirty="0"/>
              <a:t>Schematic</a:t>
            </a:r>
          </a:p>
        </p:txBody>
      </p:sp>
      <p:sp>
        <p:nvSpPr>
          <p:cNvPr id="4" name="Rectangle 3">
            <a:extLst>
              <a:ext uri="{FF2B5EF4-FFF2-40B4-BE49-F238E27FC236}">
                <a16:creationId xmlns:a16="http://schemas.microsoft.com/office/drawing/2014/main" id="{59C828F8-B319-9A8C-506B-17C2E97BDF06}"/>
              </a:ext>
            </a:extLst>
          </p:cNvPr>
          <p:cNvSpPr/>
          <p:nvPr/>
        </p:nvSpPr>
        <p:spPr>
          <a:xfrm>
            <a:off x="2991970" y="3872752"/>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Buzzer/Sensor</a:t>
            </a:r>
          </a:p>
        </p:txBody>
      </p:sp>
      <p:sp>
        <p:nvSpPr>
          <p:cNvPr id="5" name="Rectangle 4">
            <a:extLst>
              <a:ext uri="{FF2B5EF4-FFF2-40B4-BE49-F238E27FC236}">
                <a16:creationId xmlns:a16="http://schemas.microsoft.com/office/drawing/2014/main" id="{AE62F253-D66A-FF4D-7F88-FEF595873DFD}"/>
              </a:ext>
            </a:extLst>
          </p:cNvPr>
          <p:cNvSpPr/>
          <p:nvPr/>
        </p:nvSpPr>
        <p:spPr>
          <a:xfrm>
            <a:off x="5022476" y="242719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Micro</a:t>
            </a:r>
          </a:p>
        </p:txBody>
      </p:sp>
      <p:sp>
        <p:nvSpPr>
          <p:cNvPr id="6" name="Rectangle 5">
            <a:extLst>
              <a:ext uri="{FF2B5EF4-FFF2-40B4-BE49-F238E27FC236}">
                <a16:creationId xmlns:a16="http://schemas.microsoft.com/office/drawing/2014/main" id="{465996D1-DD8C-BBFB-1995-966C405B9A8E}"/>
              </a:ext>
            </a:extLst>
          </p:cNvPr>
          <p:cNvSpPr/>
          <p:nvPr/>
        </p:nvSpPr>
        <p:spPr>
          <a:xfrm>
            <a:off x="5022476" y="3872752"/>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Sensing CKT</a:t>
            </a:r>
          </a:p>
        </p:txBody>
      </p:sp>
      <p:cxnSp>
        <p:nvCxnSpPr>
          <p:cNvPr id="10" name="Straight Arrow Connector 9">
            <a:extLst>
              <a:ext uri="{FF2B5EF4-FFF2-40B4-BE49-F238E27FC236}">
                <a16:creationId xmlns:a16="http://schemas.microsoft.com/office/drawing/2014/main" id="{9B9D8C62-DFC3-DDEF-487C-6D0E59C2B289}"/>
              </a:ext>
            </a:extLst>
          </p:cNvPr>
          <p:cNvCxnSpPr>
            <a:stCxn id="4" idx="3"/>
            <a:endCxn id="6" idx="1"/>
          </p:cNvCxnSpPr>
          <p:nvPr/>
        </p:nvCxnSpPr>
        <p:spPr>
          <a:xfrm>
            <a:off x="3906370" y="4329952"/>
            <a:ext cx="11161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E896C4E0-F286-1D3F-BA61-F1EE59E36EDD}"/>
              </a:ext>
            </a:extLst>
          </p:cNvPr>
          <p:cNvSpPr/>
          <p:nvPr/>
        </p:nvSpPr>
        <p:spPr>
          <a:xfrm>
            <a:off x="2991970" y="242719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Push-Pull Driver</a:t>
            </a:r>
          </a:p>
        </p:txBody>
      </p:sp>
      <p:cxnSp>
        <p:nvCxnSpPr>
          <p:cNvPr id="13" name="Straight Arrow Connector 12">
            <a:extLst>
              <a:ext uri="{FF2B5EF4-FFF2-40B4-BE49-F238E27FC236}">
                <a16:creationId xmlns:a16="http://schemas.microsoft.com/office/drawing/2014/main" id="{8452D367-3465-AAF5-C1B6-F39EB2B3043E}"/>
              </a:ext>
            </a:extLst>
          </p:cNvPr>
          <p:cNvCxnSpPr>
            <a:stCxn id="11" idx="2"/>
            <a:endCxn id="4" idx="0"/>
          </p:cNvCxnSpPr>
          <p:nvPr/>
        </p:nvCxnSpPr>
        <p:spPr>
          <a:xfrm>
            <a:off x="3449170" y="3341593"/>
            <a:ext cx="0" cy="5311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02FECFB-5F8C-0BC6-4A78-86575FB66D19}"/>
              </a:ext>
            </a:extLst>
          </p:cNvPr>
          <p:cNvCxnSpPr>
            <a:stCxn id="5" idx="1"/>
            <a:endCxn id="11" idx="3"/>
          </p:cNvCxnSpPr>
          <p:nvPr/>
        </p:nvCxnSpPr>
        <p:spPr>
          <a:xfrm flipH="1">
            <a:off x="3906370" y="2884393"/>
            <a:ext cx="11161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E406AEF-2283-AC16-9485-67F261EAEBDB}"/>
              </a:ext>
            </a:extLst>
          </p:cNvPr>
          <p:cNvSpPr txBox="1"/>
          <p:nvPr/>
        </p:nvSpPr>
        <p:spPr>
          <a:xfrm>
            <a:off x="2925853" y="2069257"/>
            <a:ext cx="1152431" cy="369332"/>
          </a:xfrm>
          <a:prstGeom prst="rect">
            <a:avLst/>
          </a:prstGeom>
          <a:noFill/>
        </p:spPr>
        <p:txBody>
          <a:bodyPr wrap="none" rtlCol="0">
            <a:spAutoFit/>
          </a:bodyPr>
          <a:lstStyle/>
          <a:p>
            <a:r>
              <a:rPr lang="en-US" dirty="0"/>
              <a:t>Isolation*</a:t>
            </a:r>
          </a:p>
        </p:txBody>
      </p:sp>
      <p:sp>
        <p:nvSpPr>
          <p:cNvPr id="17" name="TextBox 16">
            <a:extLst>
              <a:ext uri="{FF2B5EF4-FFF2-40B4-BE49-F238E27FC236}">
                <a16:creationId xmlns:a16="http://schemas.microsoft.com/office/drawing/2014/main" id="{4F3B35BD-21CD-91EB-7AA9-60B16DF85F96}"/>
              </a:ext>
            </a:extLst>
          </p:cNvPr>
          <p:cNvSpPr txBox="1"/>
          <p:nvPr/>
        </p:nvSpPr>
        <p:spPr>
          <a:xfrm>
            <a:off x="2577078" y="5318310"/>
            <a:ext cx="6719596" cy="369332"/>
          </a:xfrm>
          <a:prstGeom prst="rect">
            <a:avLst/>
          </a:prstGeom>
          <a:noFill/>
        </p:spPr>
        <p:txBody>
          <a:bodyPr wrap="none" rtlCol="0">
            <a:spAutoFit/>
          </a:bodyPr>
          <a:lstStyle/>
          <a:p>
            <a:r>
              <a:rPr lang="en-US" dirty="0"/>
              <a:t>*Preserves signal from the buzzer as a sensor. May not be required</a:t>
            </a:r>
          </a:p>
        </p:txBody>
      </p:sp>
      <p:sp>
        <p:nvSpPr>
          <p:cNvPr id="18" name="Rectangle 17">
            <a:extLst>
              <a:ext uri="{FF2B5EF4-FFF2-40B4-BE49-F238E27FC236}">
                <a16:creationId xmlns:a16="http://schemas.microsoft.com/office/drawing/2014/main" id="{94C05115-5D1C-A9E7-4CA0-553946C84C9E}"/>
              </a:ext>
            </a:extLst>
          </p:cNvPr>
          <p:cNvSpPr/>
          <p:nvPr/>
        </p:nvSpPr>
        <p:spPr>
          <a:xfrm>
            <a:off x="7272617" y="3872752"/>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Coin Cell</a:t>
            </a:r>
          </a:p>
        </p:txBody>
      </p:sp>
      <p:cxnSp>
        <p:nvCxnSpPr>
          <p:cNvPr id="22" name="Straight Arrow Connector 21">
            <a:extLst>
              <a:ext uri="{FF2B5EF4-FFF2-40B4-BE49-F238E27FC236}">
                <a16:creationId xmlns:a16="http://schemas.microsoft.com/office/drawing/2014/main" id="{1DCEE7A3-4D10-D838-2E10-38699B073644}"/>
              </a:ext>
            </a:extLst>
          </p:cNvPr>
          <p:cNvCxnSpPr>
            <a:stCxn id="18" idx="1"/>
            <a:endCxn id="6" idx="3"/>
          </p:cNvCxnSpPr>
          <p:nvPr/>
        </p:nvCxnSpPr>
        <p:spPr>
          <a:xfrm flipH="1">
            <a:off x="5936876" y="4329952"/>
            <a:ext cx="1335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70F3B03-F3E7-032B-52BE-427D9942BB9E}"/>
              </a:ext>
            </a:extLst>
          </p:cNvPr>
          <p:cNvCxnSpPr>
            <a:stCxn id="6" idx="0"/>
            <a:endCxn id="5" idx="2"/>
          </p:cNvCxnSpPr>
          <p:nvPr/>
        </p:nvCxnSpPr>
        <p:spPr>
          <a:xfrm flipV="1">
            <a:off x="5479676" y="3341593"/>
            <a:ext cx="0" cy="5311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57FC5CA-9AEF-05AC-3BDB-187EAEFE6469}"/>
              </a:ext>
            </a:extLst>
          </p:cNvPr>
          <p:cNvSpPr txBox="1"/>
          <p:nvPr/>
        </p:nvSpPr>
        <p:spPr>
          <a:xfrm>
            <a:off x="3906370" y="1300287"/>
            <a:ext cx="2736477" cy="646331"/>
          </a:xfrm>
          <a:prstGeom prst="rect">
            <a:avLst/>
          </a:prstGeom>
          <a:noFill/>
        </p:spPr>
        <p:txBody>
          <a:bodyPr wrap="square" rtlCol="0">
            <a:spAutoFit/>
          </a:bodyPr>
          <a:lstStyle/>
          <a:p>
            <a:r>
              <a:rPr lang="en-US" sz="1200" dirty="0"/>
              <a:t>We could put a charge pump between the micro and driver but I am scared about increasing complexity.</a:t>
            </a:r>
          </a:p>
        </p:txBody>
      </p:sp>
    </p:spTree>
    <p:extLst>
      <p:ext uri="{BB962C8B-B14F-4D97-AF65-F5344CB8AC3E}">
        <p14:creationId xmlns:p14="http://schemas.microsoft.com/office/powerpoint/2010/main" val="115493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B734-C546-3D03-AAAD-92BD71BE6778}"/>
              </a:ext>
            </a:extLst>
          </p:cNvPr>
          <p:cNvSpPr>
            <a:spLocks noGrp="1"/>
          </p:cNvSpPr>
          <p:nvPr>
            <p:ph type="title"/>
          </p:nvPr>
        </p:nvSpPr>
        <p:spPr/>
        <p:txBody>
          <a:bodyPr/>
          <a:lstStyle/>
          <a:p>
            <a:r>
              <a:rPr lang="en-US" dirty="0"/>
              <a:t>Second Prototype</a:t>
            </a:r>
          </a:p>
        </p:txBody>
      </p:sp>
      <p:sp>
        <p:nvSpPr>
          <p:cNvPr id="3" name="Content Placeholder 2">
            <a:extLst>
              <a:ext uri="{FF2B5EF4-FFF2-40B4-BE49-F238E27FC236}">
                <a16:creationId xmlns:a16="http://schemas.microsoft.com/office/drawing/2014/main" id="{9E4137D4-B8A7-CE14-647A-39A99A505E48}"/>
              </a:ext>
            </a:extLst>
          </p:cNvPr>
          <p:cNvSpPr>
            <a:spLocks noGrp="1"/>
          </p:cNvSpPr>
          <p:nvPr>
            <p:ph idx="1"/>
          </p:nvPr>
        </p:nvSpPr>
        <p:spPr/>
        <p:txBody>
          <a:bodyPr/>
          <a:lstStyle/>
          <a:p>
            <a:r>
              <a:rPr lang="en-US" dirty="0"/>
              <a:t>Very promising 4/5 detections. </a:t>
            </a:r>
          </a:p>
          <a:p>
            <a:r>
              <a:rPr lang="en-US" dirty="0"/>
              <a:t>Piezo as sensor. Extra </a:t>
            </a:r>
            <a:r>
              <a:rPr lang="en-US" dirty="0" err="1"/>
              <a:t>mosfet</a:t>
            </a:r>
            <a:r>
              <a:rPr lang="en-US" dirty="0"/>
              <a:t> to drive the piezo buzzer. </a:t>
            </a:r>
          </a:p>
          <a:p>
            <a:endParaRPr lang="en-US" dirty="0"/>
          </a:p>
        </p:txBody>
      </p:sp>
      <p:pic>
        <p:nvPicPr>
          <p:cNvPr id="5" name="Picture 4">
            <a:extLst>
              <a:ext uri="{FF2B5EF4-FFF2-40B4-BE49-F238E27FC236}">
                <a16:creationId xmlns:a16="http://schemas.microsoft.com/office/drawing/2014/main" id="{0F3C5E2E-C4BB-78F9-E34B-9AF08DA6F828}"/>
              </a:ext>
            </a:extLst>
          </p:cNvPr>
          <p:cNvPicPr>
            <a:picLocks noChangeAspect="1"/>
          </p:cNvPicPr>
          <p:nvPr/>
        </p:nvPicPr>
        <p:blipFill>
          <a:blip r:embed="rId2"/>
          <a:stretch>
            <a:fillRect/>
          </a:stretch>
        </p:blipFill>
        <p:spPr>
          <a:xfrm>
            <a:off x="3645568" y="3371837"/>
            <a:ext cx="4147019" cy="2805126"/>
          </a:xfrm>
          <a:prstGeom prst="rect">
            <a:avLst/>
          </a:prstGeom>
        </p:spPr>
      </p:pic>
    </p:spTree>
    <p:extLst>
      <p:ext uri="{BB962C8B-B14F-4D97-AF65-F5344CB8AC3E}">
        <p14:creationId xmlns:p14="http://schemas.microsoft.com/office/powerpoint/2010/main" val="2802416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85387-829C-B339-CE8C-477BFFBF5497}"/>
              </a:ext>
            </a:extLst>
          </p:cNvPr>
          <p:cNvSpPr>
            <a:spLocks noGrp="1"/>
          </p:cNvSpPr>
          <p:nvPr>
            <p:ph type="title"/>
          </p:nvPr>
        </p:nvSpPr>
        <p:spPr/>
        <p:txBody>
          <a:bodyPr/>
          <a:lstStyle/>
          <a:p>
            <a:r>
              <a:rPr lang="en-US" dirty="0"/>
              <a:t>Third Prototype Plan</a:t>
            </a:r>
          </a:p>
        </p:txBody>
      </p:sp>
      <p:sp>
        <p:nvSpPr>
          <p:cNvPr id="3" name="Content Placeholder 2">
            <a:extLst>
              <a:ext uri="{FF2B5EF4-FFF2-40B4-BE49-F238E27FC236}">
                <a16:creationId xmlns:a16="http://schemas.microsoft.com/office/drawing/2014/main" id="{D5EB40A5-FA15-C959-BDBB-B0FA303073E6}"/>
              </a:ext>
            </a:extLst>
          </p:cNvPr>
          <p:cNvSpPr>
            <a:spLocks noGrp="1"/>
          </p:cNvSpPr>
          <p:nvPr>
            <p:ph idx="1"/>
          </p:nvPr>
        </p:nvSpPr>
        <p:spPr/>
        <p:txBody>
          <a:bodyPr>
            <a:normAutofit fontScale="92500" lnSpcReduction="20000"/>
          </a:bodyPr>
          <a:lstStyle/>
          <a:p>
            <a:r>
              <a:rPr lang="en-US" dirty="0"/>
              <a:t>In progress as of writing this. </a:t>
            </a:r>
          </a:p>
          <a:p>
            <a:r>
              <a:rPr lang="en-US" dirty="0"/>
              <a:t>Pared down a lot of the schematic. </a:t>
            </a:r>
          </a:p>
          <a:p>
            <a:r>
              <a:rPr lang="en-US" dirty="0"/>
              <a:t>Sent to JLC for QTY5 fab. Probably should have waited. Oh well. </a:t>
            </a:r>
          </a:p>
          <a:p>
            <a:r>
              <a:rPr lang="en-US" dirty="0"/>
              <a:t>Need to test a few things: </a:t>
            </a:r>
          </a:p>
          <a:p>
            <a:pPr lvl="1"/>
            <a:r>
              <a:rPr lang="en-US" dirty="0"/>
              <a:t>100k pull-down on </a:t>
            </a:r>
            <a:r>
              <a:rPr lang="en-US" dirty="0" err="1"/>
              <a:t>ngate</a:t>
            </a:r>
            <a:endParaRPr lang="en-US" dirty="0"/>
          </a:p>
          <a:p>
            <a:pPr lvl="2"/>
            <a:r>
              <a:rPr lang="en-US" dirty="0"/>
              <a:t>With &amp; without R7</a:t>
            </a:r>
          </a:p>
          <a:p>
            <a:pPr lvl="1"/>
            <a:r>
              <a:rPr lang="en-US" dirty="0"/>
              <a:t>330k pull-down on </a:t>
            </a:r>
            <a:r>
              <a:rPr lang="en-US" dirty="0" err="1"/>
              <a:t>ngate</a:t>
            </a:r>
            <a:endParaRPr lang="en-US" dirty="0"/>
          </a:p>
          <a:p>
            <a:pPr lvl="2"/>
            <a:r>
              <a:rPr lang="en-US" dirty="0"/>
              <a:t>With &amp; without R7</a:t>
            </a:r>
          </a:p>
          <a:p>
            <a:pPr lvl="1"/>
            <a:r>
              <a:rPr lang="en-US" dirty="0"/>
              <a:t>Tap Test</a:t>
            </a:r>
          </a:p>
          <a:p>
            <a:pPr lvl="1"/>
            <a:r>
              <a:rPr lang="en-US" dirty="0" err="1"/>
              <a:t>Mosfet</a:t>
            </a:r>
            <a:r>
              <a:rPr lang="en-US" dirty="0"/>
              <a:t> bypass (</a:t>
            </a:r>
            <a:r>
              <a:rPr lang="en-US" dirty="0" err="1"/>
              <a:t>attiny</a:t>
            </a:r>
            <a:r>
              <a:rPr lang="en-US" dirty="0"/>
              <a:t>) buzzer</a:t>
            </a:r>
          </a:p>
          <a:p>
            <a:pPr lvl="2"/>
            <a:r>
              <a:rPr lang="en-US" dirty="0"/>
              <a:t>Is R7 necessary here?</a:t>
            </a:r>
          </a:p>
          <a:p>
            <a:pPr lvl="2"/>
            <a:r>
              <a:rPr lang="en-US" dirty="0"/>
              <a:t>Is D4 necessary?</a:t>
            </a:r>
          </a:p>
          <a:p>
            <a:pPr lvl="1"/>
            <a:r>
              <a:rPr lang="en-US" dirty="0"/>
              <a:t>Can R4 be bypassed? </a:t>
            </a:r>
          </a:p>
          <a:p>
            <a:pPr lvl="1"/>
            <a:endParaRPr lang="en-US" dirty="0"/>
          </a:p>
        </p:txBody>
      </p:sp>
    </p:spTree>
    <p:extLst>
      <p:ext uri="{BB962C8B-B14F-4D97-AF65-F5344CB8AC3E}">
        <p14:creationId xmlns:p14="http://schemas.microsoft.com/office/powerpoint/2010/main" val="1544562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C5D2A-DC2B-9F41-B4B2-D02E0491A5BB}"/>
              </a:ext>
            </a:extLst>
          </p:cNvPr>
          <p:cNvSpPr>
            <a:spLocks noGrp="1"/>
          </p:cNvSpPr>
          <p:nvPr>
            <p:ph type="title"/>
          </p:nvPr>
        </p:nvSpPr>
        <p:spPr/>
        <p:txBody>
          <a:bodyPr/>
          <a:lstStyle/>
          <a:p>
            <a:r>
              <a:rPr lang="en-US" dirty="0"/>
              <a:t>1)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E40DB189-C7B6-4BE6-6239-49A84C9262B0}"/>
              </a:ext>
            </a:extLst>
          </p:cNvPr>
          <p:cNvSpPr>
            <a:spLocks noGrp="1"/>
          </p:cNvSpPr>
          <p:nvPr>
            <p:ph idx="1"/>
          </p:nvPr>
        </p:nvSpPr>
        <p:spPr/>
        <p:txBody>
          <a:bodyPr/>
          <a:lstStyle/>
          <a:p>
            <a:r>
              <a:rPr lang="en-US" dirty="0"/>
              <a:t>100k R8, RV1 Removed, R7=1k</a:t>
            </a:r>
          </a:p>
          <a:p>
            <a:pPr lvl="1"/>
            <a:r>
              <a:rPr lang="en-US" dirty="0"/>
              <a:t>Measure PZ+ and NGATE</a:t>
            </a:r>
          </a:p>
          <a:p>
            <a:pPr lvl="1"/>
            <a:r>
              <a:rPr lang="en-US" dirty="0"/>
              <a:t>Tap Test</a:t>
            </a:r>
          </a:p>
          <a:p>
            <a:endParaRPr lang="en-US" dirty="0"/>
          </a:p>
        </p:txBody>
      </p:sp>
      <p:pic>
        <p:nvPicPr>
          <p:cNvPr id="5" name="Picture 4">
            <a:extLst>
              <a:ext uri="{FF2B5EF4-FFF2-40B4-BE49-F238E27FC236}">
                <a16:creationId xmlns:a16="http://schemas.microsoft.com/office/drawing/2014/main" id="{D61D1EB8-B31B-F31C-9B8B-220E31A098E1}"/>
              </a:ext>
            </a:extLst>
          </p:cNvPr>
          <p:cNvPicPr>
            <a:picLocks noChangeAspect="1"/>
          </p:cNvPicPr>
          <p:nvPr/>
        </p:nvPicPr>
        <p:blipFill>
          <a:blip r:embed="rId2"/>
          <a:stretch>
            <a:fillRect/>
          </a:stretch>
        </p:blipFill>
        <p:spPr>
          <a:xfrm>
            <a:off x="2148167" y="3290350"/>
            <a:ext cx="7895665" cy="3485474"/>
          </a:xfrm>
          <a:prstGeom prst="rect">
            <a:avLst/>
          </a:prstGeom>
        </p:spPr>
      </p:pic>
    </p:spTree>
    <p:extLst>
      <p:ext uri="{BB962C8B-B14F-4D97-AF65-F5344CB8AC3E}">
        <p14:creationId xmlns:p14="http://schemas.microsoft.com/office/powerpoint/2010/main" val="3222296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72E7-BE2A-5EDE-81E0-79C2F1E69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60AB7-567A-0D11-912D-09688BBEDE40}"/>
              </a:ext>
            </a:extLst>
          </p:cNvPr>
          <p:cNvSpPr>
            <a:spLocks noGrp="1"/>
          </p:cNvSpPr>
          <p:nvPr>
            <p:ph type="title"/>
          </p:nvPr>
        </p:nvSpPr>
        <p:spPr/>
        <p:txBody>
          <a:bodyPr/>
          <a:lstStyle/>
          <a:p>
            <a:r>
              <a:rPr lang="en-US" dirty="0"/>
              <a:t>1)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84B8B945-8480-B618-CDE3-29B002FF7D2A}"/>
              </a:ext>
            </a:extLst>
          </p:cNvPr>
          <p:cNvSpPr>
            <a:spLocks noGrp="1"/>
          </p:cNvSpPr>
          <p:nvPr>
            <p:ph idx="1"/>
          </p:nvPr>
        </p:nvSpPr>
        <p:spPr/>
        <p:txBody>
          <a:bodyPr/>
          <a:lstStyle/>
          <a:p>
            <a:r>
              <a:rPr lang="en-US" dirty="0"/>
              <a:t>100k R8, RV1 Removed, R7=1k</a:t>
            </a:r>
          </a:p>
          <a:p>
            <a:pPr lvl="1"/>
            <a:r>
              <a:rPr lang="en-US" dirty="0"/>
              <a:t>Measure PZ+ and NGATE</a:t>
            </a:r>
          </a:p>
          <a:p>
            <a:pPr lvl="1"/>
            <a:r>
              <a:rPr lang="en-US" dirty="0"/>
              <a:t>Trap Test</a:t>
            </a:r>
          </a:p>
          <a:p>
            <a:endParaRPr lang="en-US" dirty="0"/>
          </a:p>
        </p:txBody>
      </p:sp>
      <p:pic>
        <p:nvPicPr>
          <p:cNvPr id="6" name="Picture 5">
            <a:extLst>
              <a:ext uri="{FF2B5EF4-FFF2-40B4-BE49-F238E27FC236}">
                <a16:creationId xmlns:a16="http://schemas.microsoft.com/office/drawing/2014/main" id="{9AA24A97-07C1-6C5D-7701-243B5D58BA86}"/>
              </a:ext>
            </a:extLst>
          </p:cNvPr>
          <p:cNvPicPr>
            <a:picLocks noChangeAspect="1"/>
          </p:cNvPicPr>
          <p:nvPr/>
        </p:nvPicPr>
        <p:blipFill>
          <a:blip r:embed="rId2"/>
          <a:stretch>
            <a:fillRect/>
          </a:stretch>
        </p:blipFill>
        <p:spPr>
          <a:xfrm>
            <a:off x="2931459" y="3135966"/>
            <a:ext cx="6789644" cy="3722034"/>
          </a:xfrm>
          <a:prstGeom prst="rect">
            <a:avLst/>
          </a:prstGeom>
        </p:spPr>
      </p:pic>
    </p:spTree>
    <p:extLst>
      <p:ext uri="{BB962C8B-B14F-4D97-AF65-F5344CB8AC3E}">
        <p14:creationId xmlns:p14="http://schemas.microsoft.com/office/powerpoint/2010/main" val="3227381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B7439-C1FF-D8B3-A9BE-EF7A00A4C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07113-AD15-5521-ACE1-FD2119A5CA3E}"/>
              </a:ext>
            </a:extLst>
          </p:cNvPr>
          <p:cNvSpPr>
            <a:spLocks noGrp="1"/>
          </p:cNvSpPr>
          <p:nvPr>
            <p:ph type="title"/>
          </p:nvPr>
        </p:nvSpPr>
        <p:spPr>
          <a:xfrm>
            <a:off x="838200" y="365125"/>
            <a:ext cx="10515600" cy="1325563"/>
          </a:xfrm>
        </p:spPr>
        <p:txBody>
          <a:bodyPr/>
          <a:lstStyle/>
          <a:p>
            <a:r>
              <a:rPr lang="en-US" dirty="0"/>
              <a:t>2)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6154A347-8D6A-1A12-EFE1-7F616903CCB6}"/>
              </a:ext>
            </a:extLst>
          </p:cNvPr>
          <p:cNvSpPr>
            <a:spLocks noGrp="1"/>
          </p:cNvSpPr>
          <p:nvPr>
            <p:ph idx="1"/>
          </p:nvPr>
        </p:nvSpPr>
        <p:spPr/>
        <p:txBody>
          <a:bodyPr/>
          <a:lstStyle/>
          <a:p>
            <a:r>
              <a:rPr lang="en-US" dirty="0"/>
              <a:t>100k R8, RV1 Removed, R7=DNP</a:t>
            </a:r>
          </a:p>
          <a:p>
            <a:pPr lvl="1"/>
            <a:r>
              <a:rPr lang="en-US" dirty="0"/>
              <a:t>Measure PZ+, NGATE, and sound. </a:t>
            </a:r>
          </a:p>
          <a:p>
            <a:pPr lvl="1"/>
            <a:r>
              <a:rPr lang="en-US" dirty="0"/>
              <a:t>No Sound with DNP and me pressing test button. </a:t>
            </a:r>
          </a:p>
          <a:p>
            <a:endParaRPr lang="en-US" dirty="0"/>
          </a:p>
        </p:txBody>
      </p:sp>
    </p:spTree>
    <p:extLst>
      <p:ext uri="{BB962C8B-B14F-4D97-AF65-F5344CB8AC3E}">
        <p14:creationId xmlns:p14="http://schemas.microsoft.com/office/powerpoint/2010/main" val="298163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12AD8-786A-4870-620A-63F3EA68C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537D5-0957-4597-E941-94903DB04F48}"/>
              </a:ext>
            </a:extLst>
          </p:cNvPr>
          <p:cNvSpPr>
            <a:spLocks noGrp="1"/>
          </p:cNvSpPr>
          <p:nvPr>
            <p:ph type="title"/>
          </p:nvPr>
        </p:nvSpPr>
        <p:spPr/>
        <p:txBody>
          <a:bodyPr/>
          <a:lstStyle/>
          <a:p>
            <a:r>
              <a:rPr lang="en-US" dirty="0"/>
              <a:t>3)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2023BCCA-66FA-7C84-8535-2FFBE045C25B}"/>
              </a:ext>
            </a:extLst>
          </p:cNvPr>
          <p:cNvSpPr>
            <a:spLocks noGrp="1"/>
          </p:cNvSpPr>
          <p:nvPr>
            <p:ph idx="1"/>
          </p:nvPr>
        </p:nvSpPr>
        <p:spPr/>
        <p:txBody>
          <a:bodyPr/>
          <a:lstStyle/>
          <a:p>
            <a:r>
              <a:rPr lang="en-US" dirty="0"/>
              <a:t>100k R8, RV1 Removed, R7=DNP, Bodge ATTINY pin 4 onto PZ+</a:t>
            </a:r>
          </a:p>
          <a:p>
            <a:pPr lvl="1"/>
            <a:r>
              <a:rPr lang="en-US" dirty="0"/>
              <a:t>Measure PZ+, NGATE, and sound. </a:t>
            </a:r>
          </a:p>
          <a:p>
            <a:r>
              <a:rPr lang="en-US" dirty="0"/>
              <a:t>Sound is good, can’t turn it off (idles high)</a:t>
            </a:r>
          </a:p>
          <a:p>
            <a:r>
              <a:rPr lang="en-US" dirty="0"/>
              <a:t>Tap test and mouse trap test won’t trigger</a:t>
            </a:r>
          </a:p>
          <a:p>
            <a:pPr lvl="1"/>
            <a:r>
              <a:rPr lang="en-US" dirty="0"/>
              <a:t>Piezo is going through protection diodes</a:t>
            </a:r>
          </a:p>
          <a:p>
            <a:r>
              <a:rPr lang="en-US" dirty="0"/>
              <a:t>Sensor is less sensitive than with R7 installed </a:t>
            </a:r>
            <a:r>
              <a:rPr lang="en-US" dirty="0">
                <a:sym typeface="Wingdings" panose="05000000000000000000" pitchFamily="2" charset="2"/>
              </a:rPr>
              <a:t> </a:t>
            </a:r>
          </a:p>
          <a:p>
            <a:r>
              <a:rPr lang="en-US" dirty="0">
                <a:sym typeface="Wingdings" panose="05000000000000000000" pitchFamily="2" charset="2"/>
              </a:rPr>
              <a:t>What if we make R7 Bigger?...</a:t>
            </a:r>
            <a:endParaRPr lang="en-US" dirty="0"/>
          </a:p>
        </p:txBody>
      </p:sp>
    </p:spTree>
    <p:extLst>
      <p:ext uri="{BB962C8B-B14F-4D97-AF65-F5344CB8AC3E}">
        <p14:creationId xmlns:p14="http://schemas.microsoft.com/office/powerpoint/2010/main" val="3296872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3324-0D38-9A6D-3B97-CE3AEB67F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D973B-B689-4D41-9E01-8A0F69469722}"/>
              </a:ext>
            </a:extLst>
          </p:cNvPr>
          <p:cNvSpPr>
            <a:spLocks noGrp="1"/>
          </p:cNvSpPr>
          <p:nvPr>
            <p:ph type="title"/>
          </p:nvPr>
        </p:nvSpPr>
        <p:spPr/>
        <p:txBody>
          <a:bodyPr/>
          <a:lstStyle/>
          <a:p>
            <a:r>
              <a:rPr lang="en-US" dirty="0"/>
              <a:t>4)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EF999245-7D2F-0393-2ED3-3D99A0AC184B}"/>
              </a:ext>
            </a:extLst>
          </p:cNvPr>
          <p:cNvSpPr>
            <a:spLocks noGrp="1"/>
          </p:cNvSpPr>
          <p:nvPr>
            <p:ph idx="1"/>
          </p:nvPr>
        </p:nvSpPr>
        <p:spPr/>
        <p:txBody>
          <a:bodyPr/>
          <a:lstStyle/>
          <a:p>
            <a:r>
              <a:rPr lang="en-US" dirty="0"/>
              <a:t>100k R8, RV1 Removed, R7=</a:t>
            </a:r>
            <a:r>
              <a:rPr lang="en-US" strike="sngStrike" dirty="0"/>
              <a:t>10k</a:t>
            </a:r>
            <a:r>
              <a:rPr lang="en-US" dirty="0"/>
              <a:t>, Bodge ATTINY pin 4 onto PZ+</a:t>
            </a:r>
          </a:p>
          <a:p>
            <a:pPr lvl="1"/>
            <a:r>
              <a:rPr lang="en-US" dirty="0"/>
              <a:t>Measure PZ+, NGATE, and sound. </a:t>
            </a:r>
          </a:p>
          <a:p>
            <a:r>
              <a:rPr lang="en-US" dirty="0"/>
              <a:t>Buzzer is 15nf±30% (10.5n-19.5n)</a:t>
            </a:r>
          </a:p>
          <a:p>
            <a:pPr lvl="1"/>
            <a:r>
              <a:rPr lang="en-US" dirty="0"/>
              <a:t>Want 5Tau of bleed at 4khz = 1.2k. Shit.</a:t>
            </a:r>
          </a:p>
          <a:p>
            <a:r>
              <a:rPr lang="en-US" dirty="0"/>
              <a:t>It’ll just be quieter. Not super interested in that.  </a:t>
            </a:r>
          </a:p>
        </p:txBody>
      </p:sp>
    </p:spTree>
    <p:extLst>
      <p:ext uri="{BB962C8B-B14F-4D97-AF65-F5344CB8AC3E}">
        <p14:creationId xmlns:p14="http://schemas.microsoft.com/office/powerpoint/2010/main" val="2695908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7772-1844-8877-CF0F-448B0BAF8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9CF7B-E9C6-4103-52D6-7B4C6D3F479D}"/>
              </a:ext>
            </a:extLst>
          </p:cNvPr>
          <p:cNvSpPr>
            <a:spLocks noGrp="1"/>
          </p:cNvSpPr>
          <p:nvPr>
            <p:ph type="title"/>
          </p:nvPr>
        </p:nvSpPr>
        <p:spPr/>
        <p:txBody>
          <a:bodyPr/>
          <a:lstStyle/>
          <a:p>
            <a:r>
              <a:rPr lang="en-US" dirty="0"/>
              <a:t>5)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FE326114-1AAF-0D05-4CCF-03A5E500A4B2}"/>
              </a:ext>
            </a:extLst>
          </p:cNvPr>
          <p:cNvSpPr>
            <a:spLocks noGrp="1"/>
          </p:cNvSpPr>
          <p:nvPr>
            <p:ph idx="1"/>
          </p:nvPr>
        </p:nvSpPr>
        <p:spPr/>
        <p:txBody>
          <a:bodyPr/>
          <a:lstStyle/>
          <a:p>
            <a:r>
              <a:rPr lang="en-US" dirty="0"/>
              <a:t>100k R8, RV1 Removed, R7=DNP</a:t>
            </a:r>
          </a:p>
          <a:p>
            <a:pPr lvl="1"/>
            <a:r>
              <a:rPr lang="en-US" dirty="0"/>
              <a:t>Measure PZ+ and NGATE</a:t>
            </a:r>
          </a:p>
          <a:p>
            <a:pPr lvl="1"/>
            <a:r>
              <a:rPr lang="en-US" dirty="0"/>
              <a:t>Trap Test. Won’t be able to hear anything but Let’s see how much signal that R7 was stealing away….</a:t>
            </a:r>
          </a:p>
          <a:p>
            <a:endParaRPr lang="en-US" dirty="0"/>
          </a:p>
        </p:txBody>
      </p:sp>
      <p:pic>
        <p:nvPicPr>
          <p:cNvPr id="5" name="Picture 4">
            <a:extLst>
              <a:ext uri="{FF2B5EF4-FFF2-40B4-BE49-F238E27FC236}">
                <a16:creationId xmlns:a16="http://schemas.microsoft.com/office/drawing/2014/main" id="{5EF59CDE-A802-7633-B174-60DF67005C68}"/>
              </a:ext>
            </a:extLst>
          </p:cNvPr>
          <p:cNvPicPr>
            <a:picLocks noChangeAspect="1"/>
          </p:cNvPicPr>
          <p:nvPr/>
        </p:nvPicPr>
        <p:blipFill>
          <a:blip r:embed="rId2"/>
          <a:stretch>
            <a:fillRect/>
          </a:stretch>
        </p:blipFill>
        <p:spPr>
          <a:xfrm>
            <a:off x="5438274" y="3071863"/>
            <a:ext cx="6753726" cy="3667181"/>
          </a:xfrm>
          <a:prstGeom prst="rect">
            <a:avLst/>
          </a:prstGeom>
        </p:spPr>
      </p:pic>
    </p:spTree>
    <p:extLst>
      <p:ext uri="{BB962C8B-B14F-4D97-AF65-F5344CB8AC3E}">
        <p14:creationId xmlns:p14="http://schemas.microsoft.com/office/powerpoint/2010/main" val="963051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94613-C0C8-B6DE-0D8E-6276B0871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68857-6657-7F8C-E65A-519DEDA82DC9}"/>
              </a:ext>
            </a:extLst>
          </p:cNvPr>
          <p:cNvSpPr>
            <a:spLocks noGrp="1"/>
          </p:cNvSpPr>
          <p:nvPr>
            <p:ph type="title"/>
          </p:nvPr>
        </p:nvSpPr>
        <p:spPr/>
        <p:txBody>
          <a:bodyPr/>
          <a:lstStyle/>
          <a:p>
            <a:r>
              <a:rPr lang="en-US" dirty="0"/>
              <a:t>5)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5BE85026-6255-AA1A-9DCC-666D0450FAF9}"/>
              </a:ext>
            </a:extLst>
          </p:cNvPr>
          <p:cNvSpPr>
            <a:spLocks noGrp="1"/>
          </p:cNvSpPr>
          <p:nvPr>
            <p:ph idx="1"/>
          </p:nvPr>
        </p:nvSpPr>
        <p:spPr/>
        <p:txBody>
          <a:bodyPr/>
          <a:lstStyle/>
          <a:p>
            <a:r>
              <a:rPr lang="en-US" dirty="0"/>
              <a:t>Oh wow. 2 big learnings from that one:</a:t>
            </a:r>
          </a:p>
          <a:p>
            <a:pPr lvl="1"/>
            <a:r>
              <a:rPr lang="en-US" dirty="0"/>
              <a:t>Piezo is backwards. </a:t>
            </a:r>
          </a:p>
          <a:p>
            <a:pPr lvl="1"/>
            <a:r>
              <a:rPr lang="en-US" dirty="0"/>
              <a:t>R7 is stealing a LOT of signal. </a:t>
            </a:r>
          </a:p>
          <a:p>
            <a:pPr lvl="1"/>
            <a:r>
              <a:rPr lang="en-US" dirty="0"/>
              <a:t>Notice PZ+ Had to be changed to 10V/div.</a:t>
            </a:r>
          </a:p>
          <a:p>
            <a:pPr lvl="1"/>
            <a:r>
              <a:rPr lang="en-US" dirty="0"/>
              <a:t>Couldn’t get a trig on mouse trap. Will try again with reversed piezo</a:t>
            </a:r>
          </a:p>
          <a:p>
            <a:pPr lvl="1"/>
            <a:r>
              <a:rPr lang="en-US" dirty="0"/>
              <a:t> </a:t>
            </a:r>
          </a:p>
          <a:p>
            <a:endParaRPr lang="en-US" dirty="0"/>
          </a:p>
        </p:txBody>
      </p:sp>
    </p:spTree>
    <p:extLst>
      <p:ext uri="{BB962C8B-B14F-4D97-AF65-F5344CB8AC3E}">
        <p14:creationId xmlns:p14="http://schemas.microsoft.com/office/powerpoint/2010/main" val="3511854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1E56-36CA-0012-C977-442948E0C78D}"/>
              </a:ext>
            </a:extLst>
          </p:cNvPr>
          <p:cNvSpPr>
            <a:spLocks noGrp="1"/>
          </p:cNvSpPr>
          <p:nvPr>
            <p:ph type="title"/>
          </p:nvPr>
        </p:nvSpPr>
        <p:spPr/>
        <p:txBody>
          <a:bodyPr/>
          <a:lstStyle/>
          <a:p>
            <a:r>
              <a:rPr lang="en-US" dirty="0"/>
              <a:t>6) Electrical Tests On 2</a:t>
            </a:r>
            <a:r>
              <a:rPr lang="en-US" baseline="30000" dirty="0"/>
              <a:t>nd</a:t>
            </a:r>
            <a:r>
              <a:rPr lang="en-US" dirty="0"/>
              <a:t> Prototype</a:t>
            </a:r>
          </a:p>
        </p:txBody>
      </p:sp>
      <p:sp>
        <p:nvSpPr>
          <p:cNvPr id="3" name="Content Placeholder 2">
            <a:extLst>
              <a:ext uri="{FF2B5EF4-FFF2-40B4-BE49-F238E27FC236}">
                <a16:creationId xmlns:a16="http://schemas.microsoft.com/office/drawing/2014/main" id="{77FCEA24-9579-4F90-CCC0-5900EDECEF74}"/>
              </a:ext>
            </a:extLst>
          </p:cNvPr>
          <p:cNvSpPr>
            <a:spLocks noGrp="1"/>
          </p:cNvSpPr>
          <p:nvPr>
            <p:ph idx="1"/>
          </p:nvPr>
        </p:nvSpPr>
        <p:spPr/>
        <p:txBody>
          <a:bodyPr/>
          <a:lstStyle/>
          <a:p>
            <a:r>
              <a:rPr lang="en-US" dirty="0"/>
              <a:t>Piezo flipped around. </a:t>
            </a:r>
          </a:p>
          <a:p>
            <a:pPr lvl="1"/>
            <a:r>
              <a:rPr lang="en-US" dirty="0"/>
              <a:t>Measure PZ+ and NGATE</a:t>
            </a:r>
          </a:p>
          <a:p>
            <a:r>
              <a:rPr lang="en-US" dirty="0"/>
              <a:t>Piezo doesn’t seem to have a polarity</a:t>
            </a:r>
          </a:p>
          <a:p>
            <a:r>
              <a:rPr lang="en-US" dirty="0"/>
              <a:t>Piezo is also collapsing to zero…it should have 3V on it at all times….</a:t>
            </a:r>
          </a:p>
          <a:p>
            <a:endParaRPr lang="en-US" dirty="0"/>
          </a:p>
        </p:txBody>
      </p:sp>
      <p:pic>
        <p:nvPicPr>
          <p:cNvPr id="5" name="Picture 4">
            <a:extLst>
              <a:ext uri="{FF2B5EF4-FFF2-40B4-BE49-F238E27FC236}">
                <a16:creationId xmlns:a16="http://schemas.microsoft.com/office/drawing/2014/main" id="{4BAA4DB4-D3A5-DFEA-21DB-1418CB5731BC}"/>
              </a:ext>
            </a:extLst>
          </p:cNvPr>
          <p:cNvPicPr>
            <a:picLocks noChangeAspect="1"/>
          </p:cNvPicPr>
          <p:nvPr/>
        </p:nvPicPr>
        <p:blipFill>
          <a:blip r:embed="rId2"/>
          <a:stretch>
            <a:fillRect/>
          </a:stretch>
        </p:blipFill>
        <p:spPr>
          <a:xfrm>
            <a:off x="2899610" y="3171516"/>
            <a:ext cx="6392779" cy="3525394"/>
          </a:xfrm>
          <a:prstGeom prst="rect">
            <a:avLst/>
          </a:prstGeom>
        </p:spPr>
      </p:pic>
    </p:spTree>
    <p:extLst>
      <p:ext uri="{BB962C8B-B14F-4D97-AF65-F5344CB8AC3E}">
        <p14:creationId xmlns:p14="http://schemas.microsoft.com/office/powerpoint/2010/main" val="36358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AB1F-F130-08BF-96A5-1049360EE60D}"/>
              </a:ext>
            </a:extLst>
          </p:cNvPr>
          <p:cNvSpPr>
            <a:spLocks noGrp="1"/>
          </p:cNvSpPr>
          <p:nvPr>
            <p:ph type="title"/>
          </p:nvPr>
        </p:nvSpPr>
        <p:spPr/>
        <p:txBody>
          <a:bodyPr/>
          <a:lstStyle/>
          <a:p>
            <a:r>
              <a:rPr lang="en-US" dirty="0"/>
              <a:t>7) Let’s put R7 Back</a:t>
            </a:r>
          </a:p>
        </p:txBody>
      </p:sp>
      <p:sp>
        <p:nvSpPr>
          <p:cNvPr id="3" name="Content Placeholder 2">
            <a:extLst>
              <a:ext uri="{FF2B5EF4-FFF2-40B4-BE49-F238E27FC236}">
                <a16:creationId xmlns:a16="http://schemas.microsoft.com/office/drawing/2014/main" id="{8877CBD8-4BA4-029D-C77F-9A1C742EB048}"/>
              </a:ext>
            </a:extLst>
          </p:cNvPr>
          <p:cNvSpPr>
            <a:spLocks noGrp="1"/>
          </p:cNvSpPr>
          <p:nvPr>
            <p:ph idx="1"/>
          </p:nvPr>
        </p:nvSpPr>
        <p:spPr/>
        <p:txBody>
          <a:bodyPr/>
          <a:lstStyle/>
          <a:p>
            <a:r>
              <a:rPr lang="en-US" dirty="0"/>
              <a:t>R7=1k</a:t>
            </a:r>
          </a:p>
          <a:p>
            <a:r>
              <a:rPr lang="en-US" dirty="0"/>
              <a:t>Signal Comes back</a:t>
            </a:r>
          </a:p>
          <a:p>
            <a:endParaRPr lang="en-US" dirty="0"/>
          </a:p>
        </p:txBody>
      </p:sp>
      <p:pic>
        <p:nvPicPr>
          <p:cNvPr id="5" name="Picture 4">
            <a:extLst>
              <a:ext uri="{FF2B5EF4-FFF2-40B4-BE49-F238E27FC236}">
                <a16:creationId xmlns:a16="http://schemas.microsoft.com/office/drawing/2014/main" id="{CCB9B679-EF82-FEB1-251D-C70C679CE870}"/>
              </a:ext>
            </a:extLst>
          </p:cNvPr>
          <p:cNvPicPr>
            <a:picLocks noChangeAspect="1"/>
          </p:cNvPicPr>
          <p:nvPr/>
        </p:nvPicPr>
        <p:blipFill>
          <a:blip r:embed="rId2"/>
          <a:stretch>
            <a:fillRect/>
          </a:stretch>
        </p:blipFill>
        <p:spPr>
          <a:xfrm>
            <a:off x="1207168" y="2859967"/>
            <a:ext cx="10515600" cy="3998033"/>
          </a:xfrm>
          <a:prstGeom prst="rect">
            <a:avLst/>
          </a:prstGeom>
        </p:spPr>
      </p:pic>
    </p:spTree>
    <p:extLst>
      <p:ext uri="{BB962C8B-B14F-4D97-AF65-F5344CB8AC3E}">
        <p14:creationId xmlns:p14="http://schemas.microsoft.com/office/powerpoint/2010/main" val="799733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730CA-6322-61D0-C8D6-D79F060E3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9C766-05AE-6295-7629-029F8B90E00E}"/>
              </a:ext>
            </a:extLst>
          </p:cNvPr>
          <p:cNvSpPr>
            <a:spLocks noGrp="1"/>
          </p:cNvSpPr>
          <p:nvPr>
            <p:ph type="title"/>
          </p:nvPr>
        </p:nvSpPr>
        <p:spPr/>
        <p:txBody>
          <a:bodyPr/>
          <a:lstStyle/>
          <a:p>
            <a:r>
              <a:rPr lang="en-US" dirty="0"/>
              <a:t>7) Let’s put R7 Back</a:t>
            </a:r>
          </a:p>
        </p:txBody>
      </p:sp>
      <p:sp>
        <p:nvSpPr>
          <p:cNvPr id="3" name="Content Placeholder 2">
            <a:extLst>
              <a:ext uri="{FF2B5EF4-FFF2-40B4-BE49-F238E27FC236}">
                <a16:creationId xmlns:a16="http://schemas.microsoft.com/office/drawing/2014/main" id="{B90E7553-9162-C4EB-2581-BA1BF19767BA}"/>
              </a:ext>
            </a:extLst>
          </p:cNvPr>
          <p:cNvSpPr>
            <a:spLocks noGrp="1"/>
          </p:cNvSpPr>
          <p:nvPr>
            <p:ph idx="1"/>
          </p:nvPr>
        </p:nvSpPr>
        <p:spPr/>
        <p:txBody>
          <a:bodyPr/>
          <a:lstStyle/>
          <a:p>
            <a:r>
              <a:rPr lang="en-US" dirty="0"/>
              <a:t>R7=10k</a:t>
            </a:r>
          </a:p>
          <a:p>
            <a:r>
              <a:rPr lang="en-US" dirty="0"/>
              <a:t>Much quieter but much more sensitive.</a:t>
            </a:r>
          </a:p>
          <a:p>
            <a:r>
              <a:rPr lang="en-US" dirty="0"/>
              <a:t>I think a large R7 is necessary for good sensitivity. I also think we should move Q2A (</a:t>
            </a:r>
            <a:r>
              <a:rPr lang="en-US" dirty="0" err="1"/>
              <a:t>Nmos</a:t>
            </a:r>
            <a:r>
              <a:rPr lang="en-US" dirty="0"/>
              <a:t>) down in parallel to give max sound. </a:t>
            </a:r>
          </a:p>
          <a:p>
            <a:r>
              <a:rPr lang="en-US" dirty="0"/>
              <a:t>This trigger was a light tap by the way.</a:t>
            </a:r>
          </a:p>
        </p:txBody>
      </p:sp>
      <p:pic>
        <p:nvPicPr>
          <p:cNvPr id="6" name="Picture 5">
            <a:extLst>
              <a:ext uri="{FF2B5EF4-FFF2-40B4-BE49-F238E27FC236}">
                <a16:creationId xmlns:a16="http://schemas.microsoft.com/office/drawing/2014/main" id="{83CA287F-10FB-8620-47CC-D2E7EA6F0CC0}"/>
              </a:ext>
            </a:extLst>
          </p:cNvPr>
          <p:cNvPicPr>
            <a:picLocks noChangeAspect="1"/>
          </p:cNvPicPr>
          <p:nvPr/>
        </p:nvPicPr>
        <p:blipFill>
          <a:blip r:embed="rId2"/>
          <a:stretch>
            <a:fillRect/>
          </a:stretch>
        </p:blipFill>
        <p:spPr>
          <a:xfrm>
            <a:off x="0" y="4371801"/>
            <a:ext cx="12192000" cy="4675946"/>
          </a:xfrm>
          <a:prstGeom prst="rect">
            <a:avLst/>
          </a:prstGeom>
        </p:spPr>
      </p:pic>
    </p:spTree>
    <p:extLst>
      <p:ext uri="{BB962C8B-B14F-4D97-AF65-F5344CB8AC3E}">
        <p14:creationId xmlns:p14="http://schemas.microsoft.com/office/powerpoint/2010/main" val="9870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648B-CAFB-FC83-C907-C110CBCAE248}"/>
              </a:ext>
            </a:extLst>
          </p:cNvPr>
          <p:cNvSpPr>
            <a:spLocks noGrp="1"/>
          </p:cNvSpPr>
          <p:nvPr>
            <p:ph type="title"/>
          </p:nvPr>
        </p:nvSpPr>
        <p:spPr/>
        <p:txBody>
          <a:bodyPr/>
          <a:lstStyle/>
          <a:p>
            <a:r>
              <a:rPr lang="en-US" dirty="0"/>
              <a:t>What do I do?</a:t>
            </a:r>
          </a:p>
        </p:txBody>
      </p:sp>
      <p:sp>
        <p:nvSpPr>
          <p:cNvPr id="3" name="Content Placeholder 2">
            <a:extLst>
              <a:ext uri="{FF2B5EF4-FFF2-40B4-BE49-F238E27FC236}">
                <a16:creationId xmlns:a16="http://schemas.microsoft.com/office/drawing/2014/main" id="{CCD248C2-3747-F620-0951-6D082D9F43ED}"/>
              </a:ext>
            </a:extLst>
          </p:cNvPr>
          <p:cNvSpPr>
            <a:spLocks noGrp="1"/>
          </p:cNvSpPr>
          <p:nvPr>
            <p:ph idx="1"/>
          </p:nvPr>
        </p:nvSpPr>
        <p:spPr/>
        <p:txBody>
          <a:bodyPr/>
          <a:lstStyle/>
          <a:p>
            <a:r>
              <a:rPr lang="en-US" dirty="0"/>
              <a:t>REV3 is in PROD right now. </a:t>
            </a:r>
          </a:p>
          <a:p>
            <a:r>
              <a:rPr lang="en-US" dirty="0"/>
              <a:t>It’ll WORK but I NEED(?) to test the H-bridge before I can send it out to fab. </a:t>
            </a:r>
          </a:p>
          <a:p>
            <a:r>
              <a:rPr lang="en-US" strike="sngStrike" dirty="0"/>
              <a:t>I should make a 3.5 change and ask JLC to prod</a:t>
            </a:r>
          </a:p>
          <a:p>
            <a:pPr lvl="1"/>
            <a:r>
              <a:rPr lang="en-US" dirty="0"/>
              <a:t>Can’t cancel after it’s in prod</a:t>
            </a:r>
          </a:p>
          <a:p>
            <a:r>
              <a:rPr lang="en-US" dirty="0"/>
              <a:t>Use the LPKF to proto this one out? </a:t>
            </a:r>
          </a:p>
          <a:p>
            <a:pPr lvl="1"/>
            <a:r>
              <a:rPr lang="en-US" dirty="0"/>
              <a:t>N/P, some resistors, header, buzzer should be a super small board…</a:t>
            </a:r>
          </a:p>
          <a:p>
            <a:r>
              <a:rPr lang="en-US" dirty="0"/>
              <a:t>Keep Rev2 as-is and take mouse measurements </a:t>
            </a:r>
          </a:p>
        </p:txBody>
      </p:sp>
    </p:spTree>
    <p:extLst>
      <p:ext uri="{BB962C8B-B14F-4D97-AF65-F5344CB8AC3E}">
        <p14:creationId xmlns:p14="http://schemas.microsoft.com/office/powerpoint/2010/main" val="752833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B29F-0ADD-CBC6-0148-73ACF866BC1B}"/>
              </a:ext>
            </a:extLst>
          </p:cNvPr>
          <p:cNvSpPr>
            <a:spLocks noGrp="1"/>
          </p:cNvSpPr>
          <p:nvPr>
            <p:ph type="title"/>
          </p:nvPr>
        </p:nvSpPr>
        <p:spPr/>
        <p:txBody>
          <a:bodyPr/>
          <a:lstStyle/>
          <a:p>
            <a:r>
              <a:rPr lang="en-US" dirty="0"/>
              <a:t>Fake Mouse Measurement</a:t>
            </a:r>
          </a:p>
        </p:txBody>
      </p:sp>
      <p:sp>
        <p:nvSpPr>
          <p:cNvPr id="3" name="Content Placeholder 2">
            <a:extLst>
              <a:ext uri="{FF2B5EF4-FFF2-40B4-BE49-F238E27FC236}">
                <a16:creationId xmlns:a16="http://schemas.microsoft.com/office/drawing/2014/main" id="{B148AB10-384F-0015-6189-31A9B56BF041}"/>
              </a:ext>
            </a:extLst>
          </p:cNvPr>
          <p:cNvSpPr>
            <a:spLocks noGrp="1"/>
          </p:cNvSpPr>
          <p:nvPr>
            <p:ph idx="1"/>
          </p:nvPr>
        </p:nvSpPr>
        <p:spPr/>
        <p:txBody>
          <a:bodyPr/>
          <a:lstStyle/>
          <a:p>
            <a:r>
              <a:rPr lang="en-US" dirty="0"/>
              <a:t>R7 = 10k</a:t>
            </a:r>
          </a:p>
        </p:txBody>
      </p:sp>
      <p:pic>
        <p:nvPicPr>
          <p:cNvPr id="5" name="Picture 4">
            <a:extLst>
              <a:ext uri="{FF2B5EF4-FFF2-40B4-BE49-F238E27FC236}">
                <a16:creationId xmlns:a16="http://schemas.microsoft.com/office/drawing/2014/main" id="{29D8F461-47AC-8A2D-005E-AA47CFA52D8C}"/>
              </a:ext>
            </a:extLst>
          </p:cNvPr>
          <p:cNvPicPr>
            <a:picLocks noChangeAspect="1"/>
          </p:cNvPicPr>
          <p:nvPr/>
        </p:nvPicPr>
        <p:blipFill>
          <a:blip r:embed="rId2"/>
          <a:stretch>
            <a:fillRect/>
          </a:stretch>
        </p:blipFill>
        <p:spPr>
          <a:xfrm>
            <a:off x="0" y="2242732"/>
            <a:ext cx="12192000" cy="4615268"/>
          </a:xfrm>
          <a:prstGeom prst="rect">
            <a:avLst/>
          </a:prstGeom>
        </p:spPr>
      </p:pic>
    </p:spTree>
    <p:extLst>
      <p:ext uri="{BB962C8B-B14F-4D97-AF65-F5344CB8AC3E}">
        <p14:creationId xmlns:p14="http://schemas.microsoft.com/office/powerpoint/2010/main" val="1606401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467C2-19D6-B15B-8155-590B0325EC4D}"/>
              </a:ext>
            </a:extLst>
          </p:cNvPr>
          <p:cNvSpPr>
            <a:spLocks noGrp="1"/>
          </p:cNvSpPr>
          <p:nvPr>
            <p:ph type="title"/>
          </p:nvPr>
        </p:nvSpPr>
        <p:spPr/>
        <p:txBody>
          <a:bodyPr/>
          <a:lstStyle/>
          <a:p>
            <a:r>
              <a:rPr lang="en-US" dirty="0"/>
              <a:t>Real Mouse Measurement</a:t>
            </a:r>
          </a:p>
        </p:txBody>
      </p:sp>
      <p:pic>
        <p:nvPicPr>
          <p:cNvPr id="5" name="Content Placeholder 4">
            <a:extLst>
              <a:ext uri="{FF2B5EF4-FFF2-40B4-BE49-F238E27FC236}">
                <a16:creationId xmlns:a16="http://schemas.microsoft.com/office/drawing/2014/main" id="{0107A45D-B24A-E777-B5D5-FEE80E01FB0F}"/>
              </a:ext>
            </a:extLst>
          </p:cNvPr>
          <p:cNvPicPr>
            <a:picLocks noGrp="1" noChangeAspect="1"/>
          </p:cNvPicPr>
          <p:nvPr>
            <p:ph idx="1"/>
          </p:nvPr>
        </p:nvPicPr>
        <p:blipFill>
          <a:blip r:embed="rId2"/>
          <a:stretch>
            <a:fillRect/>
          </a:stretch>
        </p:blipFill>
        <p:spPr>
          <a:xfrm>
            <a:off x="2089182" y="1873752"/>
            <a:ext cx="8013635" cy="4351338"/>
          </a:xfrm>
          <a:prstGeom prst="rect">
            <a:avLst/>
          </a:prstGeom>
        </p:spPr>
      </p:pic>
    </p:spTree>
    <p:extLst>
      <p:ext uri="{BB962C8B-B14F-4D97-AF65-F5344CB8AC3E}">
        <p14:creationId xmlns:p14="http://schemas.microsoft.com/office/powerpoint/2010/main" val="29428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4C274-CA3B-9929-3A9C-33BC8C559335}"/>
              </a:ext>
            </a:extLst>
          </p:cNvPr>
          <p:cNvSpPr>
            <a:spLocks noGrp="1"/>
          </p:cNvSpPr>
          <p:nvPr>
            <p:ph type="title"/>
          </p:nvPr>
        </p:nvSpPr>
        <p:spPr/>
        <p:txBody>
          <a:bodyPr/>
          <a:lstStyle/>
          <a:p>
            <a:r>
              <a:rPr lang="en-US" dirty="0"/>
              <a:t>Real Mouse Measurement PT2</a:t>
            </a:r>
          </a:p>
        </p:txBody>
      </p:sp>
      <p:sp>
        <p:nvSpPr>
          <p:cNvPr id="3" name="Content Placeholder 2">
            <a:extLst>
              <a:ext uri="{FF2B5EF4-FFF2-40B4-BE49-F238E27FC236}">
                <a16:creationId xmlns:a16="http://schemas.microsoft.com/office/drawing/2014/main" id="{5FF8C6E0-EE7F-C845-88DC-33B8AE41C94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28491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D0D2-5D56-C233-6388-8B49CA2C6A16}"/>
              </a:ext>
            </a:extLst>
          </p:cNvPr>
          <p:cNvSpPr>
            <a:spLocks noGrp="1"/>
          </p:cNvSpPr>
          <p:nvPr>
            <p:ph type="title"/>
          </p:nvPr>
        </p:nvSpPr>
        <p:spPr/>
        <p:txBody>
          <a:bodyPr/>
          <a:lstStyle/>
          <a:p>
            <a:r>
              <a:rPr lang="en-US" dirty="0"/>
              <a:t>I had a thought…</a:t>
            </a:r>
          </a:p>
        </p:txBody>
      </p:sp>
      <p:sp>
        <p:nvSpPr>
          <p:cNvPr id="3" name="Content Placeholder 2">
            <a:extLst>
              <a:ext uri="{FF2B5EF4-FFF2-40B4-BE49-F238E27FC236}">
                <a16:creationId xmlns:a16="http://schemas.microsoft.com/office/drawing/2014/main" id="{BDC7B72C-0B1B-F3AE-DE85-81BFA7EF5AEA}"/>
              </a:ext>
            </a:extLst>
          </p:cNvPr>
          <p:cNvSpPr>
            <a:spLocks noGrp="1"/>
          </p:cNvSpPr>
          <p:nvPr>
            <p:ph idx="1"/>
          </p:nvPr>
        </p:nvSpPr>
        <p:spPr/>
        <p:txBody>
          <a:bodyPr/>
          <a:lstStyle/>
          <a:p>
            <a:r>
              <a:rPr lang="en-US" dirty="0"/>
              <a:t>R7 was a huge lever arm but really, C1 is the ticket. </a:t>
            </a:r>
          </a:p>
          <a:p>
            <a:r>
              <a:rPr lang="en-US" dirty="0"/>
              <a:t>The piezo is like 10nF and the C1 is 100n. Let’s move R7 back to 1k and change C1 to 10n.</a:t>
            </a:r>
          </a:p>
          <a:p>
            <a:r>
              <a:rPr lang="en-US" dirty="0"/>
              <a:t>I’m such a goof. You can see it plain as day in the DNP R7 plots. Really high negative voltage (D1 not in conduction). Really low forward voltage (capacitive voltage divider with D1 in conduction).</a:t>
            </a:r>
          </a:p>
          <a:p>
            <a:r>
              <a:rPr lang="en-US" dirty="0"/>
              <a:t> Way more sensitive. And I don’t need an extra </a:t>
            </a:r>
            <a:r>
              <a:rPr lang="en-US" dirty="0" err="1"/>
              <a:t>mosfet</a:t>
            </a:r>
            <a:r>
              <a:rPr lang="en-US" dirty="0"/>
              <a:t>….See next slide for data. </a:t>
            </a:r>
          </a:p>
        </p:txBody>
      </p:sp>
    </p:spTree>
    <p:extLst>
      <p:ext uri="{BB962C8B-B14F-4D97-AF65-F5344CB8AC3E}">
        <p14:creationId xmlns:p14="http://schemas.microsoft.com/office/powerpoint/2010/main" val="3228672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5DB8-0818-5330-4DED-E3217DB2CDA9}"/>
              </a:ext>
            </a:extLst>
          </p:cNvPr>
          <p:cNvSpPr>
            <a:spLocks noGrp="1"/>
          </p:cNvSpPr>
          <p:nvPr>
            <p:ph type="title"/>
          </p:nvPr>
        </p:nvSpPr>
        <p:spPr/>
        <p:txBody>
          <a:bodyPr/>
          <a:lstStyle/>
          <a:p>
            <a:r>
              <a:rPr lang="en-US" dirty="0"/>
              <a:t>R7 = 1k, C1=10n, Gentle Tap Test</a:t>
            </a:r>
          </a:p>
        </p:txBody>
      </p:sp>
      <p:pic>
        <p:nvPicPr>
          <p:cNvPr id="5" name="Picture 4">
            <a:extLst>
              <a:ext uri="{FF2B5EF4-FFF2-40B4-BE49-F238E27FC236}">
                <a16:creationId xmlns:a16="http://schemas.microsoft.com/office/drawing/2014/main" id="{5D48D2D0-D185-F80C-8406-BFE9BAE4B8E8}"/>
              </a:ext>
            </a:extLst>
          </p:cNvPr>
          <p:cNvPicPr>
            <a:picLocks noChangeAspect="1"/>
          </p:cNvPicPr>
          <p:nvPr/>
        </p:nvPicPr>
        <p:blipFill>
          <a:blip r:embed="rId2"/>
          <a:stretch>
            <a:fillRect/>
          </a:stretch>
        </p:blipFill>
        <p:spPr>
          <a:xfrm>
            <a:off x="1401679" y="1530003"/>
            <a:ext cx="9388642" cy="5106039"/>
          </a:xfrm>
          <a:prstGeom prst="rect">
            <a:avLst/>
          </a:prstGeom>
        </p:spPr>
      </p:pic>
    </p:spTree>
    <p:extLst>
      <p:ext uri="{BB962C8B-B14F-4D97-AF65-F5344CB8AC3E}">
        <p14:creationId xmlns:p14="http://schemas.microsoft.com/office/powerpoint/2010/main" val="366017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2075F-F4F6-9497-104F-9534427A6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7AC90-A05D-2A69-AD51-2744348EA166}"/>
              </a:ext>
            </a:extLst>
          </p:cNvPr>
          <p:cNvSpPr>
            <a:spLocks noGrp="1"/>
          </p:cNvSpPr>
          <p:nvPr>
            <p:ph type="title"/>
          </p:nvPr>
        </p:nvSpPr>
        <p:spPr/>
        <p:txBody>
          <a:bodyPr/>
          <a:lstStyle/>
          <a:p>
            <a:r>
              <a:rPr lang="en-US" dirty="0"/>
              <a:t>R7 = 1k, C1=10n, Trap Test</a:t>
            </a:r>
          </a:p>
        </p:txBody>
      </p:sp>
      <p:pic>
        <p:nvPicPr>
          <p:cNvPr id="4" name="Picture 3">
            <a:extLst>
              <a:ext uri="{FF2B5EF4-FFF2-40B4-BE49-F238E27FC236}">
                <a16:creationId xmlns:a16="http://schemas.microsoft.com/office/drawing/2014/main" id="{AF82B69B-A5F2-DC50-F666-51AC94C7D9DD}"/>
              </a:ext>
            </a:extLst>
          </p:cNvPr>
          <p:cNvPicPr>
            <a:picLocks noChangeAspect="1"/>
          </p:cNvPicPr>
          <p:nvPr/>
        </p:nvPicPr>
        <p:blipFill>
          <a:blip r:embed="rId2"/>
          <a:stretch>
            <a:fillRect/>
          </a:stretch>
        </p:blipFill>
        <p:spPr>
          <a:xfrm>
            <a:off x="838199" y="1738075"/>
            <a:ext cx="10515601" cy="5119925"/>
          </a:xfrm>
          <a:prstGeom prst="rect">
            <a:avLst/>
          </a:prstGeom>
        </p:spPr>
      </p:pic>
    </p:spTree>
    <p:extLst>
      <p:ext uri="{BB962C8B-B14F-4D97-AF65-F5344CB8AC3E}">
        <p14:creationId xmlns:p14="http://schemas.microsoft.com/office/powerpoint/2010/main" val="894178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60E49-3204-5CD0-9D96-5B0D909728A5}"/>
              </a:ext>
            </a:extLst>
          </p:cNvPr>
          <p:cNvSpPr>
            <a:spLocks noGrp="1"/>
          </p:cNvSpPr>
          <p:nvPr>
            <p:ph type="title"/>
          </p:nvPr>
        </p:nvSpPr>
        <p:spPr/>
        <p:txBody>
          <a:bodyPr/>
          <a:lstStyle/>
          <a:p>
            <a:r>
              <a:rPr lang="en-US" dirty="0"/>
              <a:t>Conclusive enough for me…</a:t>
            </a:r>
          </a:p>
        </p:txBody>
      </p:sp>
      <p:sp>
        <p:nvSpPr>
          <p:cNvPr id="3" name="Content Placeholder 2">
            <a:extLst>
              <a:ext uri="{FF2B5EF4-FFF2-40B4-BE49-F238E27FC236}">
                <a16:creationId xmlns:a16="http://schemas.microsoft.com/office/drawing/2014/main" id="{66428361-74F0-3675-82B8-70D9D22C935B}"/>
              </a:ext>
            </a:extLst>
          </p:cNvPr>
          <p:cNvSpPr>
            <a:spLocks noGrp="1"/>
          </p:cNvSpPr>
          <p:nvPr>
            <p:ph idx="1"/>
          </p:nvPr>
        </p:nvSpPr>
        <p:spPr/>
        <p:txBody>
          <a:bodyPr/>
          <a:lstStyle/>
          <a:p>
            <a:r>
              <a:rPr lang="en-US" dirty="0"/>
              <a:t>Skip the extra </a:t>
            </a:r>
            <a:r>
              <a:rPr lang="en-US" dirty="0" err="1"/>
              <a:t>mosfet</a:t>
            </a:r>
            <a:r>
              <a:rPr lang="en-US" dirty="0"/>
              <a:t> pair. </a:t>
            </a:r>
          </a:p>
          <a:p>
            <a:r>
              <a:rPr lang="en-US" dirty="0"/>
              <a:t>Power the speaker through the diode with the ATTINY</a:t>
            </a:r>
          </a:p>
          <a:p>
            <a:r>
              <a:rPr lang="en-US" dirty="0"/>
              <a:t>Use 1k Pull-down on piezo</a:t>
            </a:r>
          </a:p>
          <a:p>
            <a:r>
              <a:rPr lang="en-US" dirty="0"/>
              <a:t>Use 10nF sensitive capacitor in with 100k R8</a:t>
            </a:r>
          </a:p>
        </p:txBody>
      </p:sp>
    </p:spTree>
    <p:extLst>
      <p:ext uri="{BB962C8B-B14F-4D97-AF65-F5344CB8AC3E}">
        <p14:creationId xmlns:p14="http://schemas.microsoft.com/office/powerpoint/2010/main" val="1783677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27698-2B4C-6026-C3F6-C8AF493DF2E1}"/>
              </a:ext>
            </a:extLst>
          </p:cNvPr>
          <p:cNvSpPr>
            <a:spLocks noGrp="1"/>
          </p:cNvSpPr>
          <p:nvPr>
            <p:ph type="title"/>
          </p:nvPr>
        </p:nvSpPr>
        <p:spPr/>
        <p:txBody>
          <a:bodyPr/>
          <a:lstStyle/>
          <a:p>
            <a:r>
              <a:rPr lang="en-US" dirty="0"/>
              <a:t>AS-BUILT (JLC QTY 5)</a:t>
            </a:r>
          </a:p>
        </p:txBody>
      </p:sp>
      <p:sp>
        <p:nvSpPr>
          <p:cNvPr id="3" name="Content Placeholder 2">
            <a:extLst>
              <a:ext uri="{FF2B5EF4-FFF2-40B4-BE49-F238E27FC236}">
                <a16:creationId xmlns:a16="http://schemas.microsoft.com/office/drawing/2014/main" id="{3150DEA7-3E4D-015E-D758-EB405C757A8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47B9746-06B3-0CC9-39B7-658489F9473B}"/>
              </a:ext>
            </a:extLst>
          </p:cNvPr>
          <p:cNvPicPr>
            <a:picLocks noChangeAspect="1"/>
          </p:cNvPicPr>
          <p:nvPr/>
        </p:nvPicPr>
        <p:blipFill>
          <a:blip r:embed="rId2"/>
          <a:stretch>
            <a:fillRect/>
          </a:stretch>
        </p:blipFill>
        <p:spPr>
          <a:xfrm>
            <a:off x="0" y="1464198"/>
            <a:ext cx="12192000" cy="5393802"/>
          </a:xfrm>
          <a:prstGeom prst="rect">
            <a:avLst/>
          </a:prstGeom>
        </p:spPr>
      </p:pic>
    </p:spTree>
    <p:extLst>
      <p:ext uri="{BB962C8B-B14F-4D97-AF65-F5344CB8AC3E}">
        <p14:creationId xmlns:p14="http://schemas.microsoft.com/office/powerpoint/2010/main" val="3451646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F5AAE-D6DA-AFDE-72EB-BEFA7C9ED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092AA-27D6-650C-1438-F63FFC03F8C8}"/>
              </a:ext>
            </a:extLst>
          </p:cNvPr>
          <p:cNvSpPr>
            <a:spLocks noGrp="1"/>
          </p:cNvSpPr>
          <p:nvPr>
            <p:ph type="title"/>
          </p:nvPr>
        </p:nvSpPr>
        <p:spPr/>
        <p:txBody>
          <a:bodyPr/>
          <a:lstStyle/>
          <a:p>
            <a:r>
              <a:rPr lang="en-US" dirty="0"/>
              <a:t>CHANGES TO MAKE</a:t>
            </a:r>
          </a:p>
        </p:txBody>
      </p:sp>
      <p:sp>
        <p:nvSpPr>
          <p:cNvPr id="3" name="Content Placeholder 2">
            <a:extLst>
              <a:ext uri="{FF2B5EF4-FFF2-40B4-BE49-F238E27FC236}">
                <a16:creationId xmlns:a16="http://schemas.microsoft.com/office/drawing/2014/main" id="{9F02F556-398C-DB97-A7F3-F8EB97F63E3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9307639-A497-81E4-2F24-073298DF18CD}"/>
              </a:ext>
            </a:extLst>
          </p:cNvPr>
          <p:cNvPicPr>
            <a:picLocks noChangeAspect="1"/>
          </p:cNvPicPr>
          <p:nvPr/>
        </p:nvPicPr>
        <p:blipFill>
          <a:blip r:embed="rId2"/>
          <a:stretch>
            <a:fillRect/>
          </a:stretch>
        </p:blipFill>
        <p:spPr>
          <a:xfrm>
            <a:off x="0" y="1464198"/>
            <a:ext cx="12192000" cy="5393802"/>
          </a:xfrm>
          <a:prstGeom prst="rect">
            <a:avLst/>
          </a:prstGeom>
        </p:spPr>
      </p:pic>
      <p:sp>
        <p:nvSpPr>
          <p:cNvPr id="4" name="Oval 3">
            <a:extLst>
              <a:ext uri="{FF2B5EF4-FFF2-40B4-BE49-F238E27FC236}">
                <a16:creationId xmlns:a16="http://schemas.microsoft.com/office/drawing/2014/main" id="{FD7A1631-1688-500D-880F-458014F3C394}"/>
              </a:ext>
            </a:extLst>
          </p:cNvPr>
          <p:cNvSpPr/>
          <p:nvPr/>
        </p:nvSpPr>
        <p:spPr>
          <a:xfrm>
            <a:off x="3056022" y="5101389"/>
            <a:ext cx="649705" cy="757990"/>
          </a:xfrm>
          <a:prstGeom prst="ellipse">
            <a:avLst/>
          </a:prstGeom>
          <a:noFill/>
          <a:ln w="571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39951CC-DB24-2406-63B7-589CE74B87BF}"/>
              </a:ext>
            </a:extLst>
          </p:cNvPr>
          <p:cNvSpPr/>
          <p:nvPr/>
        </p:nvSpPr>
        <p:spPr>
          <a:xfrm>
            <a:off x="5165561" y="5241758"/>
            <a:ext cx="649705" cy="757990"/>
          </a:xfrm>
          <a:prstGeom prst="ellipse">
            <a:avLst/>
          </a:prstGeom>
          <a:noFill/>
          <a:ln w="762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9066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68AC7-F526-4E56-E6D3-BB70426D2A3E}"/>
              </a:ext>
            </a:extLst>
          </p:cNvPr>
          <p:cNvSpPr>
            <a:spLocks noGrp="1"/>
          </p:cNvSpPr>
          <p:nvPr>
            <p:ph type="title"/>
          </p:nvPr>
        </p:nvSpPr>
        <p:spPr/>
        <p:txBody>
          <a:bodyPr/>
          <a:lstStyle/>
          <a:p>
            <a:r>
              <a:rPr lang="en-US" dirty="0"/>
              <a:t>Changes Made</a:t>
            </a:r>
          </a:p>
        </p:txBody>
      </p:sp>
      <p:pic>
        <p:nvPicPr>
          <p:cNvPr id="5" name="Picture 4">
            <a:extLst>
              <a:ext uri="{FF2B5EF4-FFF2-40B4-BE49-F238E27FC236}">
                <a16:creationId xmlns:a16="http://schemas.microsoft.com/office/drawing/2014/main" id="{763BD85C-EAB1-2A5B-F230-87A838A17574}"/>
              </a:ext>
            </a:extLst>
          </p:cNvPr>
          <p:cNvPicPr>
            <a:picLocks noChangeAspect="1"/>
          </p:cNvPicPr>
          <p:nvPr/>
        </p:nvPicPr>
        <p:blipFill>
          <a:blip r:embed="rId3"/>
          <a:stretch>
            <a:fillRect/>
          </a:stretch>
        </p:blipFill>
        <p:spPr>
          <a:xfrm>
            <a:off x="0" y="1690688"/>
            <a:ext cx="12192000" cy="5092780"/>
          </a:xfrm>
          <a:prstGeom prst="rect">
            <a:avLst/>
          </a:prstGeom>
        </p:spPr>
      </p:pic>
    </p:spTree>
    <p:extLst>
      <p:ext uri="{BB962C8B-B14F-4D97-AF65-F5344CB8AC3E}">
        <p14:creationId xmlns:p14="http://schemas.microsoft.com/office/powerpoint/2010/main" val="1915486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0B641-476D-4BA6-47A5-9F1E9333697E}"/>
              </a:ext>
            </a:extLst>
          </p:cNvPr>
          <p:cNvSpPr>
            <a:spLocks noGrp="1"/>
          </p:cNvSpPr>
          <p:nvPr>
            <p:ph type="title"/>
          </p:nvPr>
        </p:nvSpPr>
        <p:spPr/>
        <p:txBody>
          <a:bodyPr/>
          <a:lstStyle/>
          <a:p>
            <a:r>
              <a:rPr lang="en-US" dirty="0"/>
              <a:t>Low Power Testing</a:t>
            </a:r>
          </a:p>
        </p:txBody>
      </p:sp>
      <p:sp>
        <p:nvSpPr>
          <p:cNvPr id="3" name="Content Placeholder 2">
            <a:extLst>
              <a:ext uri="{FF2B5EF4-FFF2-40B4-BE49-F238E27FC236}">
                <a16:creationId xmlns:a16="http://schemas.microsoft.com/office/drawing/2014/main" id="{33491C24-F108-3873-0545-AEB14F61B4E1}"/>
              </a:ext>
            </a:extLst>
          </p:cNvPr>
          <p:cNvSpPr>
            <a:spLocks noGrp="1"/>
          </p:cNvSpPr>
          <p:nvPr>
            <p:ph idx="1"/>
          </p:nvPr>
        </p:nvSpPr>
        <p:spPr/>
        <p:txBody>
          <a:bodyPr/>
          <a:lstStyle/>
          <a:p>
            <a:r>
              <a:rPr lang="en-US" dirty="0"/>
              <a:t>20nA draw when not triggered (1000 year battery life lmao) </a:t>
            </a:r>
          </a:p>
          <a:p>
            <a:r>
              <a:rPr lang="en-US" dirty="0"/>
              <a:t>~1.05mA average when triggered. Need to get this down</a:t>
            </a:r>
          </a:p>
          <a:p>
            <a:pPr lvl="1"/>
            <a:r>
              <a:rPr lang="en-US" dirty="0"/>
              <a:t>8.7 days of chirping.</a:t>
            </a:r>
          </a:p>
          <a:p>
            <a:r>
              <a:rPr lang="en-US" dirty="0"/>
              <a:t>LED resistor was modified for 6mA of draw but the device only seems to see 3mA of draw (resistor sized for min </a:t>
            </a:r>
            <a:r>
              <a:rPr lang="en-US" dirty="0" err="1"/>
              <a:t>Vf</a:t>
            </a:r>
            <a:r>
              <a:rPr lang="en-US" dirty="0"/>
              <a:t>)</a:t>
            </a:r>
          </a:p>
        </p:txBody>
      </p:sp>
    </p:spTree>
    <p:extLst>
      <p:ext uri="{BB962C8B-B14F-4D97-AF65-F5344CB8AC3E}">
        <p14:creationId xmlns:p14="http://schemas.microsoft.com/office/powerpoint/2010/main" val="945546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A2623-D568-4A0C-BF09-5E350B83C3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6C180B-7F34-8069-3E9F-CD04F910C897}"/>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88AD6467-2FCE-CA8F-615E-9BAC28851D28}"/>
              </a:ext>
            </a:extLst>
          </p:cNvPr>
          <p:cNvGrpSpPr/>
          <p:nvPr/>
        </p:nvGrpSpPr>
        <p:grpSpPr>
          <a:xfrm>
            <a:off x="264696" y="365125"/>
            <a:ext cx="11381872" cy="6127750"/>
            <a:chOff x="2534770" y="4101481"/>
            <a:chExt cx="5320553" cy="2391394"/>
          </a:xfrm>
        </p:grpSpPr>
        <p:pic>
          <p:nvPicPr>
            <p:cNvPr id="5" name="Picture 4">
              <a:extLst>
                <a:ext uri="{FF2B5EF4-FFF2-40B4-BE49-F238E27FC236}">
                  <a16:creationId xmlns:a16="http://schemas.microsoft.com/office/drawing/2014/main" id="{C9050E1A-9C49-D704-95D0-3DC9F634050D}"/>
                </a:ext>
              </a:extLst>
            </p:cNvPr>
            <p:cNvPicPr>
              <a:picLocks noChangeAspect="1"/>
            </p:cNvPicPr>
            <p:nvPr/>
          </p:nvPicPr>
          <p:blipFill>
            <a:blip r:embed="rId2"/>
            <a:stretch>
              <a:fillRect/>
            </a:stretch>
          </p:blipFill>
          <p:spPr>
            <a:xfrm>
              <a:off x="2534770" y="4101481"/>
              <a:ext cx="5320553" cy="2391394"/>
            </a:xfrm>
            <a:prstGeom prst="rect">
              <a:avLst/>
            </a:prstGeom>
          </p:spPr>
        </p:pic>
        <p:sp>
          <p:nvSpPr>
            <p:cNvPr id="6" name="TextBox 5">
              <a:extLst>
                <a:ext uri="{FF2B5EF4-FFF2-40B4-BE49-F238E27FC236}">
                  <a16:creationId xmlns:a16="http://schemas.microsoft.com/office/drawing/2014/main" id="{0520F9E4-B716-26C7-FAC2-30317CA15FAA}"/>
                </a:ext>
              </a:extLst>
            </p:cNvPr>
            <p:cNvSpPr txBox="1"/>
            <p:nvPr/>
          </p:nvSpPr>
          <p:spPr>
            <a:xfrm>
              <a:off x="3556747" y="4927846"/>
              <a:ext cx="676788" cy="369332"/>
            </a:xfrm>
            <a:prstGeom prst="rect">
              <a:avLst/>
            </a:prstGeom>
            <a:noFill/>
          </p:spPr>
          <p:txBody>
            <a:bodyPr wrap="none" rtlCol="0">
              <a:spAutoFit/>
            </a:bodyPr>
            <a:lstStyle/>
            <a:p>
              <a:r>
                <a:rPr lang="en-US" dirty="0"/>
                <a:t>Blink</a:t>
              </a:r>
            </a:p>
          </p:txBody>
        </p:sp>
        <p:sp>
          <p:nvSpPr>
            <p:cNvPr id="7" name="TextBox 6">
              <a:extLst>
                <a:ext uri="{FF2B5EF4-FFF2-40B4-BE49-F238E27FC236}">
                  <a16:creationId xmlns:a16="http://schemas.microsoft.com/office/drawing/2014/main" id="{5EA6E694-E39B-44EF-1B21-2700635CF8B0}"/>
                </a:ext>
              </a:extLst>
            </p:cNvPr>
            <p:cNvSpPr txBox="1"/>
            <p:nvPr/>
          </p:nvSpPr>
          <p:spPr>
            <a:xfrm>
              <a:off x="5907646" y="4558514"/>
              <a:ext cx="1765227" cy="369332"/>
            </a:xfrm>
            <a:prstGeom prst="rect">
              <a:avLst/>
            </a:prstGeom>
            <a:noFill/>
          </p:spPr>
          <p:txBody>
            <a:bodyPr wrap="none" rtlCol="0">
              <a:spAutoFit/>
            </a:bodyPr>
            <a:lstStyle/>
            <a:p>
              <a:r>
                <a:rPr lang="en-US" dirty="0"/>
                <a:t>Blink and beeps</a:t>
              </a:r>
            </a:p>
          </p:txBody>
        </p:sp>
      </p:grpSp>
    </p:spTree>
    <p:extLst>
      <p:ext uri="{BB962C8B-B14F-4D97-AF65-F5344CB8AC3E}">
        <p14:creationId xmlns:p14="http://schemas.microsoft.com/office/powerpoint/2010/main" val="3194681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F8973-6D10-164F-5A8A-82B0B65A4119}"/>
              </a:ext>
            </a:extLst>
          </p:cNvPr>
          <p:cNvSpPr>
            <a:spLocks noGrp="1"/>
          </p:cNvSpPr>
          <p:nvPr>
            <p:ph type="title"/>
          </p:nvPr>
        </p:nvSpPr>
        <p:spPr/>
        <p:txBody>
          <a:bodyPr/>
          <a:lstStyle/>
          <a:p>
            <a:r>
              <a:rPr lang="en-US" dirty="0"/>
              <a:t>QTY 50 is off to the races!</a:t>
            </a:r>
          </a:p>
        </p:txBody>
      </p:sp>
      <p:sp>
        <p:nvSpPr>
          <p:cNvPr id="3" name="Content Placeholder 2">
            <a:extLst>
              <a:ext uri="{FF2B5EF4-FFF2-40B4-BE49-F238E27FC236}">
                <a16:creationId xmlns:a16="http://schemas.microsoft.com/office/drawing/2014/main" id="{C775C148-C03A-80D3-E700-1FEB15DFCC33}"/>
              </a:ext>
            </a:extLst>
          </p:cNvPr>
          <p:cNvSpPr>
            <a:spLocks noGrp="1"/>
          </p:cNvSpPr>
          <p:nvPr>
            <p:ph idx="1"/>
          </p:nvPr>
        </p:nvSpPr>
        <p:spPr/>
        <p:txBody>
          <a:bodyPr/>
          <a:lstStyle/>
          <a:p>
            <a:r>
              <a:rPr lang="en-US" dirty="0"/>
              <a:t>Fuck a tariff</a:t>
            </a:r>
          </a:p>
          <a:p>
            <a:r>
              <a:rPr lang="en-US" dirty="0"/>
              <a:t>3/17/2026</a:t>
            </a:r>
          </a:p>
          <a:p>
            <a:endParaRPr lang="en-US" dirty="0"/>
          </a:p>
        </p:txBody>
      </p:sp>
      <p:pic>
        <p:nvPicPr>
          <p:cNvPr id="7" name="Picture 6">
            <a:extLst>
              <a:ext uri="{FF2B5EF4-FFF2-40B4-BE49-F238E27FC236}">
                <a16:creationId xmlns:a16="http://schemas.microsoft.com/office/drawing/2014/main" id="{5824D4F6-1439-5BA2-8B3C-1B8DB5D54622}"/>
              </a:ext>
            </a:extLst>
          </p:cNvPr>
          <p:cNvPicPr>
            <a:picLocks noChangeAspect="1"/>
          </p:cNvPicPr>
          <p:nvPr/>
        </p:nvPicPr>
        <p:blipFill>
          <a:blip r:embed="rId2"/>
          <a:stretch>
            <a:fillRect/>
          </a:stretch>
        </p:blipFill>
        <p:spPr>
          <a:xfrm>
            <a:off x="4395550" y="1809524"/>
            <a:ext cx="3400900" cy="3238952"/>
          </a:xfrm>
          <a:prstGeom prst="rect">
            <a:avLst/>
          </a:prstGeom>
        </p:spPr>
      </p:pic>
    </p:spTree>
    <p:extLst>
      <p:ext uri="{BB962C8B-B14F-4D97-AF65-F5344CB8AC3E}">
        <p14:creationId xmlns:p14="http://schemas.microsoft.com/office/powerpoint/2010/main" val="374827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2E3A-68A8-7132-3A07-CE510EE4C11F}"/>
              </a:ext>
            </a:extLst>
          </p:cNvPr>
          <p:cNvSpPr>
            <a:spLocks noGrp="1"/>
          </p:cNvSpPr>
          <p:nvPr>
            <p:ph type="title"/>
          </p:nvPr>
        </p:nvSpPr>
        <p:spPr/>
        <p:txBody>
          <a:bodyPr/>
          <a:lstStyle/>
          <a:p>
            <a:r>
              <a:rPr lang="en-US" dirty="0"/>
              <a:t>ICE Pinout</a:t>
            </a:r>
          </a:p>
        </p:txBody>
      </p:sp>
      <p:pic>
        <p:nvPicPr>
          <p:cNvPr id="1026" name="Picture 2" descr="Cable for outputting the ATMEL ICE v2 programmer signals - Kamami on-line  store">
            <a:extLst>
              <a:ext uri="{FF2B5EF4-FFF2-40B4-BE49-F238E27FC236}">
                <a16:creationId xmlns:a16="http://schemas.microsoft.com/office/drawing/2014/main" id="{331EEDC0-4759-3BAF-496B-1C9BA6A9A15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8477" y="1598482"/>
            <a:ext cx="10459822" cy="7741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088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248A-0363-30B3-7F07-2FEB2071D7E3}"/>
              </a:ext>
            </a:extLst>
          </p:cNvPr>
          <p:cNvSpPr>
            <a:spLocks noGrp="1"/>
          </p:cNvSpPr>
          <p:nvPr>
            <p:ph type="title"/>
          </p:nvPr>
        </p:nvSpPr>
        <p:spPr/>
        <p:txBody>
          <a:bodyPr/>
          <a:lstStyle/>
          <a:p>
            <a:r>
              <a:rPr lang="en-US" dirty="0"/>
              <a:t>Sleep Studies</a:t>
            </a:r>
          </a:p>
        </p:txBody>
      </p:sp>
      <p:sp>
        <p:nvSpPr>
          <p:cNvPr id="3" name="Content Placeholder 2">
            <a:extLst>
              <a:ext uri="{FF2B5EF4-FFF2-40B4-BE49-F238E27FC236}">
                <a16:creationId xmlns:a16="http://schemas.microsoft.com/office/drawing/2014/main" id="{BB668F9C-50FE-A39A-F23B-38C5A581952B}"/>
              </a:ext>
            </a:extLst>
          </p:cNvPr>
          <p:cNvSpPr>
            <a:spLocks noGrp="1"/>
          </p:cNvSpPr>
          <p:nvPr>
            <p:ph idx="1"/>
          </p:nvPr>
        </p:nvSpPr>
        <p:spPr/>
        <p:txBody>
          <a:bodyPr/>
          <a:lstStyle/>
          <a:p>
            <a:r>
              <a:rPr lang="en-US" dirty="0"/>
              <a:t>OG Code vs Sleeps</a:t>
            </a:r>
          </a:p>
        </p:txBody>
      </p:sp>
    </p:spTree>
    <p:extLst>
      <p:ext uri="{BB962C8B-B14F-4D97-AF65-F5344CB8AC3E}">
        <p14:creationId xmlns:p14="http://schemas.microsoft.com/office/powerpoint/2010/main" val="649660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F999-7A3E-3CF6-B5C4-FB62BEB73ECB}"/>
              </a:ext>
            </a:extLst>
          </p:cNvPr>
          <p:cNvSpPr>
            <a:spLocks noGrp="1"/>
          </p:cNvSpPr>
          <p:nvPr>
            <p:ph type="title"/>
          </p:nvPr>
        </p:nvSpPr>
        <p:spPr/>
        <p:txBody>
          <a:bodyPr/>
          <a:lstStyle/>
          <a:p>
            <a:r>
              <a:rPr lang="en-US" dirty="0"/>
              <a:t>OG CODE: </a:t>
            </a:r>
          </a:p>
        </p:txBody>
      </p:sp>
      <p:sp>
        <p:nvSpPr>
          <p:cNvPr id="4" name="TextBox 3">
            <a:extLst>
              <a:ext uri="{FF2B5EF4-FFF2-40B4-BE49-F238E27FC236}">
                <a16:creationId xmlns:a16="http://schemas.microsoft.com/office/drawing/2014/main" id="{584A61CD-AE69-7697-6F91-EB23F60946AC}"/>
              </a:ext>
            </a:extLst>
          </p:cNvPr>
          <p:cNvSpPr txBox="1"/>
          <p:nvPr/>
        </p:nvSpPr>
        <p:spPr>
          <a:xfrm>
            <a:off x="6224337" y="1303588"/>
            <a:ext cx="5967663" cy="4893647"/>
          </a:xfrm>
          <a:prstGeom prst="rect">
            <a:avLst/>
          </a:prstGeom>
          <a:noFill/>
        </p:spPr>
        <p:txBody>
          <a:bodyPr wrap="square" rtlCol="0">
            <a:spAutoFit/>
          </a:bodyPr>
          <a:lstStyle/>
          <a:p>
            <a:r>
              <a:rPr lang="en-US" sz="400" dirty="0"/>
              <a:t>OG CODE:</a:t>
            </a:r>
          </a:p>
          <a:p>
            <a:endParaRPr lang="en-US" sz="400" dirty="0"/>
          </a:p>
          <a:p>
            <a:r>
              <a:rPr lang="en-US" sz="400" dirty="0"/>
              <a:t>#define </a:t>
            </a:r>
            <a:r>
              <a:rPr lang="en-US" sz="400" i="1" dirty="0"/>
              <a:t>F_CPU</a:t>
            </a:r>
            <a:r>
              <a:rPr lang="en-US" sz="400" dirty="0"/>
              <a:t> 1000000UL</a:t>
            </a:r>
          </a:p>
          <a:p>
            <a:r>
              <a:rPr lang="en-US" sz="400" dirty="0"/>
              <a:t>#include &lt;</a:t>
            </a:r>
            <a:r>
              <a:rPr lang="en-US" sz="400" dirty="0" err="1"/>
              <a:t>avr</a:t>
            </a:r>
            <a:r>
              <a:rPr lang="en-US" sz="400" dirty="0"/>
              <a:t>/</a:t>
            </a:r>
            <a:r>
              <a:rPr lang="en-US" sz="400" dirty="0" err="1"/>
              <a:t>io.h</a:t>
            </a:r>
            <a:r>
              <a:rPr lang="en-US" sz="400" dirty="0"/>
              <a:t>&gt;</a:t>
            </a:r>
          </a:p>
          <a:p>
            <a:r>
              <a:rPr lang="en-US" sz="400" dirty="0"/>
              <a:t>#include &lt;util/</a:t>
            </a:r>
            <a:r>
              <a:rPr lang="en-US" sz="400" dirty="0" err="1"/>
              <a:t>delay.h</a:t>
            </a:r>
            <a:r>
              <a:rPr lang="en-US" sz="400" dirty="0"/>
              <a:t>&gt;</a:t>
            </a:r>
          </a:p>
          <a:p>
            <a:endParaRPr lang="en-US" sz="400" dirty="0"/>
          </a:p>
          <a:p>
            <a:r>
              <a:rPr lang="en-US" sz="400" dirty="0"/>
              <a:t>// Toggle PB2 by writing 1 to PINB bit</a:t>
            </a:r>
          </a:p>
          <a:p>
            <a:r>
              <a:rPr lang="en-US" sz="400" dirty="0"/>
              <a:t>static inline void pb2_toggle(void) {</a:t>
            </a:r>
          </a:p>
          <a:p>
            <a:r>
              <a:rPr lang="it-IT" sz="400" dirty="0"/>
              <a:t>asm volatile("sbi %0, %1" :: "I"(_SFR_IO_ADDR(PINB)), "I"(PB2));</a:t>
            </a:r>
          </a:p>
          <a:p>
            <a:r>
              <a:rPr lang="en-US" sz="400" dirty="0"/>
              <a:t>}</a:t>
            </a:r>
          </a:p>
          <a:p>
            <a:endParaRPr lang="en-US" sz="400" dirty="0"/>
          </a:p>
          <a:p>
            <a:r>
              <a:rPr lang="en-US" sz="400" dirty="0"/>
              <a:t>// 125 µs half period @ 1 MHz</a:t>
            </a:r>
          </a:p>
          <a:p>
            <a:r>
              <a:rPr lang="en-US" sz="400" dirty="0"/>
              <a:t>static inline void half_period_125us(void) {</a:t>
            </a:r>
          </a:p>
          <a:p>
            <a:r>
              <a:rPr lang="fr-FR" sz="400" i="1" dirty="0"/>
              <a:t>uint8_t</a:t>
            </a:r>
            <a:r>
              <a:rPr lang="fr-FR" sz="400" dirty="0"/>
              <a:t> n = 41; // 3*n - 1 = 122 cycles</a:t>
            </a:r>
          </a:p>
          <a:p>
            <a:r>
              <a:rPr lang="en-US" sz="400" dirty="0" err="1"/>
              <a:t>asm</a:t>
            </a:r>
            <a:r>
              <a:rPr lang="en-US" sz="400" dirty="0"/>
              <a:t> volatile(</a:t>
            </a:r>
          </a:p>
          <a:p>
            <a:r>
              <a:rPr lang="pt-BR" sz="400" dirty="0"/>
              <a:t>"1: dec %[n]   \n\t"</a:t>
            </a:r>
          </a:p>
          <a:p>
            <a:r>
              <a:rPr lang="en-US" sz="400" dirty="0"/>
              <a:t>"</a:t>
            </a:r>
            <a:r>
              <a:rPr lang="en-US" sz="400" dirty="0" err="1"/>
              <a:t>brne</a:t>
            </a:r>
            <a:r>
              <a:rPr lang="en-US" sz="400" dirty="0"/>
              <a:t> 1b       \n\t"</a:t>
            </a:r>
          </a:p>
          <a:p>
            <a:r>
              <a:rPr lang="en-US" sz="400" dirty="0"/>
              <a:t>"</a:t>
            </a:r>
            <a:r>
              <a:rPr lang="en-US" sz="400" dirty="0" err="1"/>
              <a:t>nop</a:t>
            </a:r>
            <a:r>
              <a:rPr lang="en-US" sz="400" dirty="0"/>
              <a:t>           \n\t"</a:t>
            </a:r>
          </a:p>
          <a:p>
            <a:r>
              <a:rPr lang="en-US" sz="400" dirty="0"/>
              <a:t>: [n] "+r"(n)</a:t>
            </a:r>
          </a:p>
          <a:p>
            <a:r>
              <a:rPr lang="en-US" sz="400" dirty="0"/>
              <a:t>);</a:t>
            </a:r>
          </a:p>
          <a:p>
            <a:r>
              <a:rPr lang="en-US" sz="400" dirty="0"/>
              <a:t>}</a:t>
            </a:r>
          </a:p>
          <a:p>
            <a:endParaRPr lang="en-US" sz="400" dirty="0"/>
          </a:p>
          <a:p>
            <a:r>
              <a:rPr lang="fi-FI" sz="400" dirty="0"/>
              <a:t>// 4 kHz tone on PB2</a:t>
            </a:r>
          </a:p>
          <a:p>
            <a:r>
              <a:rPr lang="en-US" sz="400" dirty="0"/>
              <a:t>static inline void tone_pb2_4khz_ms(</a:t>
            </a:r>
            <a:r>
              <a:rPr lang="en-US" sz="400" i="1" dirty="0"/>
              <a:t>uint16_t</a:t>
            </a:r>
            <a:r>
              <a:rPr lang="en-US" sz="400" dirty="0"/>
              <a:t> </a:t>
            </a:r>
            <a:r>
              <a:rPr lang="en-US" sz="400" dirty="0" err="1"/>
              <a:t>duration_ms</a:t>
            </a:r>
            <a:r>
              <a:rPr lang="en-US" sz="400" dirty="0"/>
              <a:t>)</a:t>
            </a:r>
          </a:p>
          <a:p>
            <a:r>
              <a:rPr lang="en-US" sz="400" dirty="0"/>
              <a:t>{</a:t>
            </a:r>
          </a:p>
          <a:p>
            <a:r>
              <a:rPr lang="fr-FR" sz="400" i="1" dirty="0"/>
              <a:t>uint16_t</a:t>
            </a:r>
            <a:r>
              <a:rPr lang="fr-FR" sz="400" dirty="0"/>
              <a:t> </a:t>
            </a:r>
            <a:r>
              <a:rPr lang="fr-FR" sz="400" dirty="0" err="1"/>
              <a:t>periods</a:t>
            </a:r>
            <a:r>
              <a:rPr lang="fr-FR" sz="400" dirty="0"/>
              <a:t> = </a:t>
            </a:r>
            <a:r>
              <a:rPr lang="fr-FR" sz="400" dirty="0" err="1"/>
              <a:t>duration_ms</a:t>
            </a:r>
            <a:r>
              <a:rPr lang="fr-FR" sz="400" dirty="0"/>
              <a:t> * 4;</a:t>
            </a:r>
          </a:p>
          <a:p>
            <a:endParaRPr lang="en-US" sz="400" dirty="0"/>
          </a:p>
          <a:p>
            <a:r>
              <a:rPr lang="en-US" sz="400" dirty="0"/>
              <a:t>while (periods--) {</a:t>
            </a:r>
          </a:p>
          <a:p>
            <a:r>
              <a:rPr lang="en-US" sz="400" dirty="0"/>
              <a:t>pb2_toggle();</a:t>
            </a:r>
          </a:p>
          <a:p>
            <a:r>
              <a:rPr lang="en-US" sz="400" dirty="0"/>
              <a:t>half_period_125us();</a:t>
            </a:r>
          </a:p>
          <a:p>
            <a:r>
              <a:rPr lang="en-US" sz="400" dirty="0"/>
              <a:t>pb2_toggle();</a:t>
            </a:r>
          </a:p>
          <a:p>
            <a:r>
              <a:rPr lang="en-US" sz="400" dirty="0"/>
              <a:t>half_period_125us();</a:t>
            </a:r>
          </a:p>
          <a:p>
            <a:r>
              <a:rPr lang="en-US" sz="400" dirty="0"/>
              <a:t>}</a:t>
            </a:r>
          </a:p>
          <a:p>
            <a:endParaRPr lang="en-US" sz="400" dirty="0"/>
          </a:p>
          <a:p>
            <a:r>
              <a:rPr lang="en-US" sz="400" dirty="0"/>
              <a:t>PORTB &amp;= ~(1 &lt;&lt; PB2); // force low</a:t>
            </a:r>
          </a:p>
          <a:p>
            <a:r>
              <a:rPr lang="en-US" sz="400" dirty="0"/>
              <a:t>}</a:t>
            </a:r>
          </a:p>
          <a:p>
            <a:endParaRPr lang="en-US" sz="400" dirty="0"/>
          </a:p>
          <a:p>
            <a:r>
              <a:rPr lang="fi-FI" sz="400" dirty="0"/>
              <a:t>// 20 ms pulse on PB0</a:t>
            </a:r>
          </a:p>
          <a:p>
            <a:r>
              <a:rPr lang="en-US" sz="400" dirty="0"/>
              <a:t>static inline void pulse_pb0_20ms(void)</a:t>
            </a:r>
          </a:p>
          <a:p>
            <a:r>
              <a:rPr lang="en-US" sz="400" dirty="0"/>
              <a:t>{</a:t>
            </a:r>
          </a:p>
          <a:p>
            <a:r>
              <a:rPr lang="en-US" sz="400" dirty="0"/>
              <a:t>PORTB |=  (1 &lt;&lt; PB0);</a:t>
            </a:r>
          </a:p>
          <a:p>
            <a:r>
              <a:rPr lang="en-US" sz="400" i="1" dirty="0"/>
              <a:t>_</a:t>
            </a:r>
            <a:r>
              <a:rPr lang="en-US" sz="400" i="1" dirty="0" err="1"/>
              <a:t>delay_ms</a:t>
            </a:r>
            <a:r>
              <a:rPr lang="en-US" sz="400" dirty="0"/>
              <a:t>(20);</a:t>
            </a:r>
          </a:p>
          <a:p>
            <a:r>
              <a:rPr lang="en-US" sz="400" dirty="0"/>
              <a:t>PORTB &amp;= ~(1 &lt;&lt; PB0);</a:t>
            </a:r>
          </a:p>
          <a:p>
            <a:r>
              <a:rPr lang="en-US" sz="400" dirty="0"/>
              <a:t>}</a:t>
            </a:r>
          </a:p>
          <a:p>
            <a:endParaRPr lang="en-US" sz="400" dirty="0"/>
          </a:p>
          <a:p>
            <a:r>
              <a:rPr lang="en-US" sz="400" dirty="0"/>
              <a:t>int main(void)</a:t>
            </a:r>
          </a:p>
          <a:p>
            <a:r>
              <a:rPr lang="en-US" sz="400" dirty="0"/>
              <a:t>{</a:t>
            </a:r>
          </a:p>
          <a:p>
            <a:r>
              <a:rPr lang="en-US" sz="400" dirty="0"/>
              <a:t>// PB2 + PB0 outputs</a:t>
            </a:r>
          </a:p>
          <a:p>
            <a:r>
              <a:rPr lang="en-US" sz="400" dirty="0"/>
              <a:t>DDRB  |= (1 &lt;&lt; PB2) | (1 &lt;&lt; PB0);</a:t>
            </a:r>
          </a:p>
          <a:p>
            <a:r>
              <a:rPr lang="en-US" sz="400" dirty="0"/>
              <a:t>PORTB &amp;= ~((1 &lt;&lt; PB2) | (1 &lt;&lt; PB0));</a:t>
            </a:r>
          </a:p>
          <a:p>
            <a:r>
              <a:rPr lang="en-US" sz="400" dirty="0"/>
              <a:t>tone_pb2_4khz_ms(50);</a:t>
            </a:r>
          </a:p>
          <a:p>
            <a:r>
              <a:rPr lang="en-US" sz="400" i="1" dirty="0"/>
              <a:t>_</a:t>
            </a:r>
            <a:r>
              <a:rPr lang="en-US" sz="400" i="1" dirty="0" err="1"/>
              <a:t>delay_ms</a:t>
            </a:r>
            <a:r>
              <a:rPr lang="en-US" sz="400" dirty="0"/>
              <a:t>(50);</a:t>
            </a:r>
          </a:p>
          <a:p>
            <a:r>
              <a:rPr lang="en-US" sz="400" dirty="0"/>
              <a:t>tone_pb2_4khz_ms(50);</a:t>
            </a:r>
          </a:p>
          <a:p>
            <a:r>
              <a:rPr lang="en-US" sz="400" i="1" dirty="0"/>
              <a:t>_</a:t>
            </a:r>
            <a:r>
              <a:rPr lang="en-US" sz="400" i="1" dirty="0" err="1"/>
              <a:t>delay_ms</a:t>
            </a:r>
            <a:r>
              <a:rPr lang="en-US" sz="400" dirty="0"/>
              <a:t>(50);</a:t>
            </a:r>
          </a:p>
          <a:p>
            <a:r>
              <a:rPr lang="en-US" sz="400" dirty="0"/>
              <a:t>tone_pb2_4khz_ms(50);</a:t>
            </a:r>
          </a:p>
          <a:p>
            <a:r>
              <a:rPr lang="en-US" sz="400" i="1" dirty="0"/>
              <a:t>_</a:t>
            </a:r>
            <a:r>
              <a:rPr lang="en-US" sz="400" i="1" dirty="0" err="1"/>
              <a:t>delay_ms</a:t>
            </a:r>
            <a:r>
              <a:rPr lang="en-US" sz="400" dirty="0"/>
              <a:t>(50);</a:t>
            </a:r>
          </a:p>
          <a:p>
            <a:r>
              <a:rPr lang="en-US" sz="400" dirty="0"/>
              <a:t>tone_pb2_4khz_ms(50);</a:t>
            </a:r>
          </a:p>
          <a:p>
            <a:endParaRPr lang="en-US" sz="400" dirty="0"/>
          </a:p>
          <a:p>
            <a:r>
              <a:rPr lang="en-US" sz="400" i="1" dirty="0"/>
              <a:t>uint8_t</a:t>
            </a:r>
            <a:r>
              <a:rPr lang="en-US" sz="400" dirty="0"/>
              <a:t> </a:t>
            </a:r>
            <a:r>
              <a:rPr lang="en-US" sz="400" dirty="0" err="1"/>
              <a:t>flash_count</a:t>
            </a:r>
            <a:r>
              <a:rPr lang="en-US" sz="400" dirty="0"/>
              <a:t> = 0;</a:t>
            </a:r>
          </a:p>
          <a:p>
            <a:endParaRPr lang="en-US" sz="400" dirty="0"/>
          </a:p>
          <a:p>
            <a:r>
              <a:rPr lang="en-US" sz="400" dirty="0"/>
              <a:t>while (1)</a:t>
            </a:r>
          </a:p>
          <a:p>
            <a:r>
              <a:rPr lang="en-US" sz="400" dirty="0"/>
              <a:t>{</a:t>
            </a:r>
          </a:p>
          <a:p>
            <a:r>
              <a:rPr lang="en-US" sz="400" dirty="0"/>
              <a:t>pulse_pb0_20ms();      // LED pulse every second</a:t>
            </a:r>
          </a:p>
          <a:p>
            <a:endParaRPr lang="en-US" sz="400" dirty="0"/>
          </a:p>
          <a:p>
            <a:r>
              <a:rPr lang="en-US" sz="400" dirty="0" err="1"/>
              <a:t>flash_count</a:t>
            </a:r>
            <a:r>
              <a:rPr lang="en-US" sz="400" dirty="0"/>
              <a:t>++;</a:t>
            </a:r>
          </a:p>
          <a:p>
            <a:endParaRPr lang="en-US" sz="400" dirty="0"/>
          </a:p>
          <a:p>
            <a:r>
              <a:rPr lang="en-US" sz="400" dirty="0"/>
              <a:t>if (</a:t>
            </a:r>
            <a:r>
              <a:rPr lang="en-US" sz="400" dirty="0" err="1"/>
              <a:t>flash_count</a:t>
            </a:r>
            <a:r>
              <a:rPr lang="en-US" sz="400" dirty="0"/>
              <a:t> &gt;= 4)  // every 4 seconds</a:t>
            </a:r>
          </a:p>
          <a:p>
            <a:r>
              <a:rPr lang="en-US" sz="400" dirty="0"/>
              <a:t>{</a:t>
            </a:r>
          </a:p>
          <a:p>
            <a:r>
              <a:rPr lang="en-US" sz="400" dirty="0" err="1"/>
              <a:t>flash_count</a:t>
            </a:r>
            <a:r>
              <a:rPr lang="en-US" sz="400" dirty="0"/>
              <a:t> = 0;</a:t>
            </a:r>
          </a:p>
          <a:p>
            <a:endParaRPr lang="en-US" sz="400" dirty="0"/>
          </a:p>
          <a:p>
            <a:r>
              <a:rPr lang="en-US" sz="400" dirty="0"/>
              <a:t>tone_pb2_4khz_ms(50);</a:t>
            </a:r>
          </a:p>
          <a:p>
            <a:r>
              <a:rPr lang="en-US" sz="400" i="1" dirty="0"/>
              <a:t>_</a:t>
            </a:r>
            <a:r>
              <a:rPr lang="en-US" sz="400" i="1" dirty="0" err="1"/>
              <a:t>delay_ms</a:t>
            </a:r>
            <a:r>
              <a:rPr lang="en-US" sz="400" dirty="0"/>
              <a:t>(50);</a:t>
            </a:r>
          </a:p>
          <a:p>
            <a:r>
              <a:rPr lang="en-US" sz="400" dirty="0"/>
              <a:t>tone_pb2_4khz_ms(50);</a:t>
            </a:r>
          </a:p>
          <a:p>
            <a:r>
              <a:rPr lang="en-US" sz="400" dirty="0"/>
              <a:t>}</a:t>
            </a:r>
          </a:p>
          <a:p>
            <a:endParaRPr lang="en-US" sz="400" dirty="0"/>
          </a:p>
          <a:p>
            <a:r>
              <a:rPr lang="en-US" sz="400" i="1" dirty="0"/>
              <a:t>_</a:t>
            </a:r>
            <a:r>
              <a:rPr lang="en-US" sz="400" i="1" dirty="0" err="1"/>
              <a:t>delay_ms</a:t>
            </a:r>
            <a:r>
              <a:rPr lang="en-US" sz="400" dirty="0"/>
              <a:t>(980);  // completes ~1 second total (20ms + 980ms)</a:t>
            </a:r>
          </a:p>
          <a:p>
            <a:r>
              <a:rPr lang="en-US" sz="400" dirty="0"/>
              <a:t>}</a:t>
            </a:r>
          </a:p>
          <a:p>
            <a:r>
              <a:rPr lang="en-US" sz="400" dirty="0"/>
              <a:t>}</a:t>
            </a:r>
          </a:p>
        </p:txBody>
      </p:sp>
      <p:pic>
        <p:nvPicPr>
          <p:cNvPr id="5" name="Picture 4">
            <a:extLst>
              <a:ext uri="{FF2B5EF4-FFF2-40B4-BE49-F238E27FC236}">
                <a16:creationId xmlns:a16="http://schemas.microsoft.com/office/drawing/2014/main" id="{12BD6AE5-7572-BBB3-CB94-19B2F918E5E2}"/>
              </a:ext>
            </a:extLst>
          </p:cNvPr>
          <p:cNvPicPr>
            <a:picLocks noChangeAspect="1"/>
          </p:cNvPicPr>
          <p:nvPr/>
        </p:nvPicPr>
        <p:blipFill>
          <a:blip r:embed="rId2"/>
          <a:stretch>
            <a:fillRect/>
          </a:stretch>
        </p:blipFill>
        <p:spPr>
          <a:xfrm>
            <a:off x="775447" y="1690688"/>
            <a:ext cx="5320553" cy="2391394"/>
          </a:xfrm>
          <a:prstGeom prst="rect">
            <a:avLst/>
          </a:prstGeom>
        </p:spPr>
      </p:pic>
      <p:sp>
        <p:nvSpPr>
          <p:cNvPr id="6" name="TextBox 5">
            <a:extLst>
              <a:ext uri="{FF2B5EF4-FFF2-40B4-BE49-F238E27FC236}">
                <a16:creationId xmlns:a16="http://schemas.microsoft.com/office/drawing/2014/main" id="{369C1188-93B1-ABDA-2030-2C239B447B9D}"/>
              </a:ext>
            </a:extLst>
          </p:cNvPr>
          <p:cNvSpPr txBox="1"/>
          <p:nvPr/>
        </p:nvSpPr>
        <p:spPr>
          <a:xfrm>
            <a:off x="1552575" y="4610100"/>
            <a:ext cx="1489062" cy="369332"/>
          </a:xfrm>
          <a:prstGeom prst="rect">
            <a:avLst/>
          </a:prstGeom>
          <a:noFill/>
        </p:spPr>
        <p:txBody>
          <a:bodyPr wrap="none" rtlCol="0">
            <a:spAutoFit/>
          </a:bodyPr>
          <a:lstStyle/>
          <a:p>
            <a:r>
              <a:rPr lang="en-US" dirty="0"/>
              <a:t>1.05mA AVG!</a:t>
            </a:r>
          </a:p>
        </p:txBody>
      </p:sp>
    </p:spTree>
    <p:extLst>
      <p:ext uri="{BB962C8B-B14F-4D97-AF65-F5344CB8AC3E}">
        <p14:creationId xmlns:p14="http://schemas.microsoft.com/office/powerpoint/2010/main" val="1501443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EE966-B66D-6FED-AD27-01CE3331070A}"/>
              </a:ext>
            </a:extLst>
          </p:cNvPr>
          <p:cNvSpPr>
            <a:spLocks noGrp="1"/>
          </p:cNvSpPr>
          <p:nvPr>
            <p:ph type="title"/>
          </p:nvPr>
        </p:nvSpPr>
        <p:spPr/>
        <p:txBody>
          <a:bodyPr/>
          <a:lstStyle/>
          <a:p>
            <a:r>
              <a:rPr lang="en-US" dirty="0"/>
              <a:t>ChatGPT “Sleeper Code”</a:t>
            </a:r>
          </a:p>
        </p:txBody>
      </p:sp>
      <p:sp>
        <p:nvSpPr>
          <p:cNvPr id="3" name="Content Placeholder 2">
            <a:extLst>
              <a:ext uri="{FF2B5EF4-FFF2-40B4-BE49-F238E27FC236}">
                <a16:creationId xmlns:a16="http://schemas.microsoft.com/office/drawing/2014/main" id="{A3821791-3370-9D3A-DECC-EF8CDF941A6A}"/>
              </a:ext>
            </a:extLst>
          </p:cNvPr>
          <p:cNvSpPr>
            <a:spLocks noGrp="1"/>
          </p:cNvSpPr>
          <p:nvPr>
            <p:ph idx="1"/>
          </p:nvPr>
        </p:nvSpPr>
        <p:spPr/>
        <p:txBody>
          <a:bodyPr/>
          <a:lstStyle/>
          <a:p>
            <a:r>
              <a:rPr lang="en-US" dirty="0"/>
              <a:t>600uA Sleep</a:t>
            </a:r>
          </a:p>
          <a:p>
            <a:r>
              <a:rPr lang="en-US" dirty="0"/>
              <a:t>734uA Average</a:t>
            </a:r>
          </a:p>
          <a:p>
            <a:r>
              <a:rPr lang="en-US" dirty="0"/>
              <a:t>Better!</a:t>
            </a:r>
          </a:p>
          <a:p>
            <a:r>
              <a:rPr lang="en-US" dirty="0"/>
              <a:t>The issue: </a:t>
            </a:r>
          </a:p>
          <a:p>
            <a:pPr lvl="1"/>
            <a:r>
              <a:rPr lang="en-US" dirty="0"/>
              <a:t>I am drawing 600uA sleeping…that’s bad sleep…except it’s really bad hardware</a:t>
            </a:r>
          </a:p>
          <a:p>
            <a:pPr lvl="1"/>
            <a:endParaRPr lang="en-US" dirty="0"/>
          </a:p>
        </p:txBody>
      </p:sp>
    </p:spTree>
    <p:extLst>
      <p:ext uri="{BB962C8B-B14F-4D97-AF65-F5344CB8AC3E}">
        <p14:creationId xmlns:p14="http://schemas.microsoft.com/office/powerpoint/2010/main" val="2633658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EC4DA-0CBF-C0C3-59B5-59BC70272643}"/>
              </a:ext>
            </a:extLst>
          </p:cNvPr>
          <p:cNvSpPr>
            <a:spLocks noGrp="1"/>
          </p:cNvSpPr>
          <p:nvPr>
            <p:ph type="title"/>
          </p:nvPr>
        </p:nvSpPr>
        <p:spPr/>
        <p:txBody>
          <a:bodyPr/>
          <a:lstStyle/>
          <a:p>
            <a:r>
              <a:rPr lang="en-US" dirty="0"/>
              <a:t>On-State Power Draws!</a:t>
            </a:r>
          </a:p>
        </p:txBody>
      </p:sp>
      <p:pic>
        <p:nvPicPr>
          <p:cNvPr id="5" name="Content Placeholder 4">
            <a:extLst>
              <a:ext uri="{FF2B5EF4-FFF2-40B4-BE49-F238E27FC236}">
                <a16:creationId xmlns:a16="http://schemas.microsoft.com/office/drawing/2014/main" id="{4610E720-8181-97C4-2678-6578B443F29C}"/>
              </a:ext>
            </a:extLst>
          </p:cNvPr>
          <p:cNvPicPr>
            <a:picLocks noGrp="1" noChangeAspect="1"/>
          </p:cNvPicPr>
          <p:nvPr>
            <p:ph idx="1"/>
          </p:nvPr>
        </p:nvPicPr>
        <p:blipFill>
          <a:blip r:embed="rId2"/>
          <a:stretch>
            <a:fillRect/>
          </a:stretch>
        </p:blipFill>
        <p:spPr>
          <a:xfrm>
            <a:off x="2118997" y="1825625"/>
            <a:ext cx="7954005" cy="4351338"/>
          </a:xfrm>
          <a:prstGeom prst="rect">
            <a:avLst/>
          </a:prstGeom>
        </p:spPr>
      </p:pic>
      <p:sp>
        <p:nvSpPr>
          <p:cNvPr id="6" name="TextBox 5">
            <a:extLst>
              <a:ext uri="{FF2B5EF4-FFF2-40B4-BE49-F238E27FC236}">
                <a16:creationId xmlns:a16="http://schemas.microsoft.com/office/drawing/2014/main" id="{411F3094-9FD6-2550-4E33-B2CE3A33D41B}"/>
              </a:ext>
            </a:extLst>
          </p:cNvPr>
          <p:cNvSpPr txBox="1"/>
          <p:nvPr/>
        </p:nvSpPr>
        <p:spPr>
          <a:xfrm>
            <a:off x="9385300" y="3816628"/>
            <a:ext cx="819455" cy="369332"/>
          </a:xfrm>
          <a:prstGeom prst="rect">
            <a:avLst/>
          </a:prstGeom>
          <a:noFill/>
        </p:spPr>
        <p:txBody>
          <a:bodyPr wrap="none" rtlCol="0">
            <a:spAutoFit/>
          </a:bodyPr>
          <a:lstStyle/>
          <a:p>
            <a:r>
              <a:rPr lang="en-US" dirty="0"/>
              <a:t>300uA</a:t>
            </a:r>
          </a:p>
        </p:txBody>
      </p:sp>
      <p:sp>
        <p:nvSpPr>
          <p:cNvPr id="7" name="TextBox 6">
            <a:extLst>
              <a:ext uri="{FF2B5EF4-FFF2-40B4-BE49-F238E27FC236}">
                <a16:creationId xmlns:a16="http://schemas.microsoft.com/office/drawing/2014/main" id="{1AA9C98C-2CA1-9405-5746-3ECE1B862542}"/>
              </a:ext>
            </a:extLst>
          </p:cNvPr>
          <p:cNvSpPr txBox="1"/>
          <p:nvPr/>
        </p:nvSpPr>
        <p:spPr>
          <a:xfrm>
            <a:off x="4809261" y="3759478"/>
            <a:ext cx="942887" cy="369332"/>
          </a:xfrm>
          <a:prstGeom prst="rect">
            <a:avLst/>
          </a:prstGeom>
          <a:noFill/>
        </p:spPr>
        <p:txBody>
          <a:bodyPr wrap="none" rtlCol="0">
            <a:spAutoFit/>
          </a:bodyPr>
          <a:lstStyle/>
          <a:p>
            <a:r>
              <a:rPr lang="en-US" dirty="0"/>
              <a:t>~300uA</a:t>
            </a:r>
          </a:p>
        </p:txBody>
      </p:sp>
    </p:spTree>
    <p:extLst>
      <p:ext uri="{BB962C8B-B14F-4D97-AF65-F5344CB8AC3E}">
        <p14:creationId xmlns:p14="http://schemas.microsoft.com/office/powerpoint/2010/main" val="3554983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A754D-AE92-FAAE-1404-041BEFB7F9D1}"/>
              </a:ext>
            </a:extLst>
          </p:cNvPr>
          <p:cNvSpPr>
            <a:spLocks noGrp="1"/>
          </p:cNvSpPr>
          <p:nvPr>
            <p:ph type="title"/>
          </p:nvPr>
        </p:nvSpPr>
        <p:spPr/>
        <p:txBody>
          <a:bodyPr/>
          <a:lstStyle/>
          <a:p>
            <a:r>
              <a:rPr lang="en-US" dirty="0"/>
              <a:t>Fixes…</a:t>
            </a:r>
          </a:p>
        </p:txBody>
      </p:sp>
      <p:pic>
        <p:nvPicPr>
          <p:cNvPr id="7" name="Content Placeholder 6">
            <a:extLst>
              <a:ext uri="{FF2B5EF4-FFF2-40B4-BE49-F238E27FC236}">
                <a16:creationId xmlns:a16="http://schemas.microsoft.com/office/drawing/2014/main" id="{0BAC8E6F-5BEB-2739-95FA-0FFEFF41A562}"/>
              </a:ext>
            </a:extLst>
          </p:cNvPr>
          <p:cNvPicPr>
            <a:picLocks noGrp="1" noChangeAspect="1"/>
          </p:cNvPicPr>
          <p:nvPr>
            <p:ph idx="1"/>
          </p:nvPr>
        </p:nvPicPr>
        <p:blipFill>
          <a:blip r:embed="rId2"/>
          <a:stretch>
            <a:fillRect/>
          </a:stretch>
        </p:blipFill>
        <p:spPr>
          <a:xfrm>
            <a:off x="310772" y="1883985"/>
            <a:ext cx="7954005" cy="4351338"/>
          </a:xfrm>
          <a:prstGeom prst="rect">
            <a:avLst/>
          </a:prstGeom>
        </p:spPr>
      </p:pic>
      <p:cxnSp>
        <p:nvCxnSpPr>
          <p:cNvPr id="9" name="Straight Arrow Connector 8">
            <a:extLst>
              <a:ext uri="{FF2B5EF4-FFF2-40B4-BE49-F238E27FC236}">
                <a16:creationId xmlns:a16="http://schemas.microsoft.com/office/drawing/2014/main" id="{E0040A1A-8318-9F51-4B09-777B42019CC1}"/>
              </a:ext>
            </a:extLst>
          </p:cNvPr>
          <p:cNvCxnSpPr/>
          <p:nvPr/>
        </p:nvCxnSpPr>
        <p:spPr>
          <a:xfrm>
            <a:off x="3767075" y="4624010"/>
            <a:ext cx="209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B4C3127-8FB8-7867-A5AC-EAC19B9400F5}"/>
              </a:ext>
            </a:extLst>
          </p:cNvPr>
          <p:cNvSpPr txBox="1"/>
          <p:nvPr/>
        </p:nvSpPr>
        <p:spPr>
          <a:xfrm>
            <a:off x="3099905" y="4439344"/>
            <a:ext cx="667170" cy="369332"/>
          </a:xfrm>
          <a:prstGeom prst="rect">
            <a:avLst/>
          </a:prstGeom>
          <a:solidFill>
            <a:schemeClr val="bg1"/>
          </a:solidFill>
        </p:spPr>
        <p:txBody>
          <a:bodyPr wrap="none" rtlCol="0">
            <a:spAutoFit/>
          </a:bodyPr>
          <a:lstStyle/>
          <a:p>
            <a:r>
              <a:rPr lang="en-US" dirty="0"/>
              <a:t>100k</a:t>
            </a:r>
          </a:p>
        </p:txBody>
      </p:sp>
      <p:cxnSp>
        <p:nvCxnSpPr>
          <p:cNvPr id="11" name="Straight Arrow Connector 10">
            <a:extLst>
              <a:ext uri="{FF2B5EF4-FFF2-40B4-BE49-F238E27FC236}">
                <a16:creationId xmlns:a16="http://schemas.microsoft.com/office/drawing/2014/main" id="{A71F05AC-A58D-5ED2-703F-D1B6D9ED89A6}"/>
              </a:ext>
            </a:extLst>
          </p:cNvPr>
          <p:cNvCxnSpPr/>
          <p:nvPr/>
        </p:nvCxnSpPr>
        <p:spPr>
          <a:xfrm>
            <a:off x="3157475" y="5576510"/>
            <a:ext cx="209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298878B-B3EF-42A5-427D-66A35568607E}"/>
              </a:ext>
            </a:extLst>
          </p:cNvPr>
          <p:cNvSpPr txBox="1"/>
          <p:nvPr/>
        </p:nvSpPr>
        <p:spPr>
          <a:xfrm>
            <a:off x="1988181" y="5391844"/>
            <a:ext cx="1169294" cy="369332"/>
          </a:xfrm>
          <a:prstGeom prst="rect">
            <a:avLst/>
          </a:prstGeom>
          <a:solidFill>
            <a:schemeClr val="bg1"/>
          </a:solidFill>
        </p:spPr>
        <p:txBody>
          <a:bodyPr wrap="none" rtlCol="0">
            <a:spAutoFit/>
          </a:bodyPr>
          <a:lstStyle/>
          <a:p>
            <a:r>
              <a:rPr lang="en-US" dirty="0"/>
              <a:t>REMOVE*</a:t>
            </a:r>
          </a:p>
        </p:txBody>
      </p:sp>
      <p:cxnSp>
        <p:nvCxnSpPr>
          <p:cNvPr id="13" name="Straight Arrow Connector 12">
            <a:extLst>
              <a:ext uri="{FF2B5EF4-FFF2-40B4-BE49-F238E27FC236}">
                <a16:creationId xmlns:a16="http://schemas.microsoft.com/office/drawing/2014/main" id="{FF911706-5E8A-2052-1EDD-E7DAA378D2BF}"/>
              </a:ext>
            </a:extLst>
          </p:cNvPr>
          <p:cNvCxnSpPr/>
          <p:nvPr/>
        </p:nvCxnSpPr>
        <p:spPr>
          <a:xfrm>
            <a:off x="7335775" y="3417510"/>
            <a:ext cx="209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1B13818-CDAA-F3A0-25B1-6543B9686556}"/>
              </a:ext>
            </a:extLst>
          </p:cNvPr>
          <p:cNvSpPr txBox="1"/>
          <p:nvPr/>
        </p:nvSpPr>
        <p:spPr>
          <a:xfrm>
            <a:off x="6668605" y="3232844"/>
            <a:ext cx="667170" cy="369332"/>
          </a:xfrm>
          <a:prstGeom prst="rect">
            <a:avLst/>
          </a:prstGeom>
          <a:solidFill>
            <a:schemeClr val="bg1"/>
          </a:solidFill>
        </p:spPr>
        <p:txBody>
          <a:bodyPr wrap="none" rtlCol="0">
            <a:spAutoFit/>
          </a:bodyPr>
          <a:lstStyle/>
          <a:p>
            <a:r>
              <a:rPr lang="en-US" dirty="0"/>
              <a:t>100k</a:t>
            </a:r>
          </a:p>
        </p:txBody>
      </p:sp>
      <p:sp>
        <p:nvSpPr>
          <p:cNvPr id="15" name="TextBox 14">
            <a:extLst>
              <a:ext uri="{FF2B5EF4-FFF2-40B4-BE49-F238E27FC236}">
                <a16:creationId xmlns:a16="http://schemas.microsoft.com/office/drawing/2014/main" id="{AB58A2C4-05F3-FF33-1ECC-F6A22CB3C902}"/>
              </a:ext>
            </a:extLst>
          </p:cNvPr>
          <p:cNvSpPr txBox="1"/>
          <p:nvPr/>
        </p:nvSpPr>
        <p:spPr>
          <a:xfrm>
            <a:off x="310772" y="6428621"/>
            <a:ext cx="8140562" cy="369332"/>
          </a:xfrm>
          <a:prstGeom prst="rect">
            <a:avLst/>
          </a:prstGeom>
          <a:noFill/>
        </p:spPr>
        <p:txBody>
          <a:bodyPr wrap="none" rtlCol="0">
            <a:spAutoFit/>
          </a:bodyPr>
          <a:lstStyle/>
          <a:p>
            <a:r>
              <a:rPr lang="en-US" dirty="0"/>
              <a:t>*DNP This part, it is redundant when you factor in leakage and capacitance of D5</a:t>
            </a:r>
          </a:p>
        </p:txBody>
      </p:sp>
      <p:pic>
        <p:nvPicPr>
          <p:cNvPr id="17" name="Picture 16">
            <a:extLst>
              <a:ext uri="{FF2B5EF4-FFF2-40B4-BE49-F238E27FC236}">
                <a16:creationId xmlns:a16="http://schemas.microsoft.com/office/drawing/2014/main" id="{309D7630-0961-3178-91BB-F03AB010339D}"/>
              </a:ext>
            </a:extLst>
          </p:cNvPr>
          <p:cNvPicPr>
            <a:picLocks noChangeAspect="1"/>
          </p:cNvPicPr>
          <p:nvPr/>
        </p:nvPicPr>
        <p:blipFill>
          <a:blip r:embed="rId3"/>
          <a:stretch>
            <a:fillRect/>
          </a:stretch>
        </p:blipFill>
        <p:spPr>
          <a:xfrm>
            <a:off x="6734288" y="365125"/>
            <a:ext cx="5339499" cy="2162518"/>
          </a:xfrm>
          <a:prstGeom prst="rect">
            <a:avLst/>
          </a:prstGeom>
        </p:spPr>
      </p:pic>
    </p:spTree>
    <p:extLst>
      <p:ext uri="{BB962C8B-B14F-4D97-AF65-F5344CB8AC3E}">
        <p14:creationId xmlns:p14="http://schemas.microsoft.com/office/powerpoint/2010/main" val="555279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DB91-C0A9-38A3-618A-0038980BD54C}"/>
              </a:ext>
            </a:extLst>
          </p:cNvPr>
          <p:cNvSpPr>
            <a:spLocks noGrp="1"/>
          </p:cNvSpPr>
          <p:nvPr>
            <p:ph type="title"/>
          </p:nvPr>
        </p:nvSpPr>
        <p:spPr/>
        <p:txBody>
          <a:bodyPr/>
          <a:lstStyle/>
          <a:p>
            <a:r>
              <a:rPr lang="en-US" dirty="0"/>
              <a:t>New Theoretical Sleep Draw</a:t>
            </a:r>
          </a:p>
        </p:txBody>
      </p:sp>
      <p:sp>
        <p:nvSpPr>
          <p:cNvPr id="3" name="Content Placeholder 2">
            <a:extLst>
              <a:ext uri="{FF2B5EF4-FFF2-40B4-BE49-F238E27FC236}">
                <a16:creationId xmlns:a16="http://schemas.microsoft.com/office/drawing/2014/main" id="{5E237412-3E2C-8FE1-CC7E-5E80F9083EA3}"/>
              </a:ext>
            </a:extLst>
          </p:cNvPr>
          <p:cNvSpPr>
            <a:spLocks noGrp="1"/>
          </p:cNvSpPr>
          <p:nvPr>
            <p:ph idx="1"/>
          </p:nvPr>
        </p:nvSpPr>
        <p:spPr/>
        <p:txBody>
          <a:bodyPr/>
          <a:lstStyle/>
          <a:p>
            <a:r>
              <a:rPr lang="en-US" dirty="0"/>
              <a:t>60uA</a:t>
            </a:r>
          </a:p>
          <a:p>
            <a:r>
              <a:rPr lang="en-US" dirty="0"/>
              <a:t>8 days</a:t>
            </a:r>
            <a:r>
              <a:rPr lang="en-US" dirty="0">
                <a:sym typeface="Wingdings" panose="05000000000000000000" pitchFamily="2" charset="2"/>
              </a:rPr>
              <a:t>80days</a:t>
            </a:r>
          </a:p>
          <a:p>
            <a:r>
              <a:rPr lang="en-US" dirty="0">
                <a:sym typeface="Wingdings" panose="05000000000000000000" pitchFamily="2" charset="2"/>
              </a:rPr>
              <a:t>Not a deal-killer for beta-test, but def. a miss on my part</a:t>
            </a:r>
          </a:p>
          <a:p>
            <a:endParaRPr lang="en-US" dirty="0"/>
          </a:p>
        </p:txBody>
      </p:sp>
      <p:pic>
        <p:nvPicPr>
          <p:cNvPr id="5" name="Picture 4">
            <a:extLst>
              <a:ext uri="{FF2B5EF4-FFF2-40B4-BE49-F238E27FC236}">
                <a16:creationId xmlns:a16="http://schemas.microsoft.com/office/drawing/2014/main" id="{5A733EF6-5D50-8E0A-3E67-D970705E30D2}"/>
              </a:ext>
            </a:extLst>
          </p:cNvPr>
          <p:cNvPicPr>
            <a:picLocks noChangeAspect="1"/>
          </p:cNvPicPr>
          <p:nvPr/>
        </p:nvPicPr>
        <p:blipFill>
          <a:blip r:embed="rId2"/>
          <a:stretch>
            <a:fillRect/>
          </a:stretch>
        </p:blipFill>
        <p:spPr>
          <a:xfrm>
            <a:off x="2156863" y="3678088"/>
            <a:ext cx="7878274" cy="2143424"/>
          </a:xfrm>
          <a:prstGeom prst="rect">
            <a:avLst/>
          </a:prstGeom>
        </p:spPr>
      </p:pic>
    </p:spTree>
    <p:extLst>
      <p:ext uri="{BB962C8B-B14F-4D97-AF65-F5344CB8AC3E}">
        <p14:creationId xmlns:p14="http://schemas.microsoft.com/office/powerpoint/2010/main" val="1025631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0420-E7A9-CD6E-AD8C-75480B9B4BEF}"/>
              </a:ext>
            </a:extLst>
          </p:cNvPr>
          <p:cNvSpPr>
            <a:spLocks noGrp="1"/>
          </p:cNvSpPr>
          <p:nvPr>
            <p:ph type="title"/>
          </p:nvPr>
        </p:nvSpPr>
        <p:spPr/>
        <p:txBody>
          <a:bodyPr/>
          <a:lstStyle/>
          <a:p>
            <a:r>
              <a:rPr lang="en-US" dirty="0"/>
              <a:t>Update: 3/20/2026</a:t>
            </a:r>
          </a:p>
        </p:txBody>
      </p:sp>
      <p:sp>
        <p:nvSpPr>
          <p:cNvPr id="3" name="Content Placeholder 2">
            <a:extLst>
              <a:ext uri="{FF2B5EF4-FFF2-40B4-BE49-F238E27FC236}">
                <a16:creationId xmlns:a16="http://schemas.microsoft.com/office/drawing/2014/main" id="{38310F13-11DF-2B5B-19E2-F9EC7E73B996}"/>
              </a:ext>
            </a:extLst>
          </p:cNvPr>
          <p:cNvSpPr>
            <a:spLocks noGrp="1"/>
          </p:cNvSpPr>
          <p:nvPr>
            <p:ph idx="1"/>
          </p:nvPr>
        </p:nvSpPr>
        <p:spPr/>
        <p:txBody>
          <a:bodyPr/>
          <a:lstStyle/>
          <a:p>
            <a:r>
              <a:rPr lang="en-US" dirty="0"/>
              <a:t>Replaced resistors R7/R4 with 100ks </a:t>
            </a:r>
          </a:p>
          <a:p>
            <a:r>
              <a:rPr lang="en-US" dirty="0"/>
              <a:t>Removed  R3</a:t>
            </a:r>
          </a:p>
          <a:p>
            <a:r>
              <a:rPr lang="en-US" dirty="0"/>
              <a:t>New average draw: 180uA!</a:t>
            </a:r>
          </a:p>
          <a:p>
            <a:r>
              <a:rPr lang="en-US" dirty="0"/>
              <a:t>Sleep Current: 60uA</a:t>
            </a:r>
          </a:p>
          <a:p>
            <a:r>
              <a:rPr lang="en-US" dirty="0"/>
              <a:t>Sensitivity….questionable it should go up though. </a:t>
            </a:r>
          </a:p>
          <a:p>
            <a:r>
              <a:rPr lang="en-US" dirty="0"/>
              <a:t>"C:\Users\robot\OneDrive\Documents\Projects\MouseMinder\PowerProfilerData\ATTINY10Sleep_optimized_resistors.csv“</a:t>
            </a:r>
          </a:p>
          <a:p>
            <a:r>
              <a:rPr lang="en-US" dirty="0"/>
              <a:t>I won’t do this rework to 50x boards…but I’ll rework 1-2 for internal testing. </a:t>
            </a:r>
          </a:p>
        </p:txBody>
      </p:sp>
    </p:spTree>
    <p:extLst>
      <p:ext uri="{BB962C8B-B14F-4D97-AF65-F5344CB8AC3E}">
        <p14:creationId xmlns:p14="http://schemas.microsoft.com/office/powerpoint/2010/main" val="36724830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D61A7-5C7F-87FB-DDEB-A7A32F77E87B}"/>
              </a:ext>
            </a:extLst>
          </p:cNvPr>
          <p:cNvSpPr>
            <a:spLocks noGrp="1"/>
          </p:cNvSpPr>
          <p:nvPr>
            <p:ph type="title"/>
          </p:nvPr>
        </p:nvSpPr>
        <p:spPr/>
        <p:txBody>
          <a:bodyPr/>
          <a:lstStyle/>
          <a:p>
            <a:r>
              <a:rPr lang="en-US" dirty="0"/>
              <a:t>Plot</a:t>
            </a:r>
          </a:p>
        </p:txBody>
      </p:sp>
      <p:pic>
        <p:nvPicPr>
          <p:cNvPr id="9" name="Content Placeholder 8">
            <a:extLst>
              <a:ext uri="{FF2B5EF4-FFF2-40B4-BE49-F238E27FC236}">
                <a16:creationId xmlns:a16="http://schemas.microsoft.com/office/drawing/2014/main" id="{2DCE74F2-E631-2B1D-B84A-F77D8E10BA80}"/>
              </a:ext>
            </a:extLst>
          </p:cNvPr>
          <p:cNvPicPr>
            <a:picLocks noGrp="1" noChangeAspect="1"/>
          </p:cNvPicPr>
          <p:nvPr>
            <p:ph idx="1"/>
          </p:nvPr>
        </p:nvPicPr>
        <p:blipFill>
          <a:blip r:embed="rId2"/>
          <a:stretch>
            <a:fillRect/>
          </a:stretch>
        </p:blipFill>
        <p:spPr>
          <a:xfrm>
            <a:off x="541421" y="1825625"/>
            <a:ext cx="9889957" cy="4351338"/>
          </a:xfrm>
          <a:prstGeom prst="rect">
            <a:avLst/>
          </a:prstGeom>
        </p:spPr>
      </p:pic>
    </p:spTree>
    <p:extLst>
      <p:ext uri="{BB962C8B-B14F-4D97-AF65-F5344CB8AC3E}">
        <p14:creationId xmlns:p14="http://schemas.microsoft.com/office/powerpoint/2010/main" val="1948488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3B2F-DB14-7E07-B339-ED77F8ACF0F0}"/>
              </a:ext>
            </a:extLst>
          </p:cNvPr>
          <p:cNvSpPr>
            <a:spLocks noGrp="1"/>
          </p:cNvSpPr>
          <p:nvPr>
            <p:ph type="title"/>
          </p:nvPr>
        </p:nvSpPr>
        <p:spPr/>
        <p:txBody>
          <a:bodyPr/>
          <a:lstStyle/>
          <a:p>
            <a:r>
              <a:rPr lang="en-US" dirty="0"/>
              <a:t>Dumb idea…3/21/2026</a:t>
            </a:r>
          </a:p>
        </p:txBody>
      </p:sp>
      <p:sp>
        <p:nvSpPr>
          <p:cNvPr id="3" name="Content Placeholder 2">
            <a:extLst>
              <a:ext uri="{FF2B5EF4-FFF2-40B4-BE49-F238E27FC236}">
                <a16:creationId xmlns:a16="http://schemas.microsoft.com/office/drawing/2014/main" id="{D224BD42-06A1-401F-1133-15B7394E8592}"/>
              </a:ext>
            </a:extLst>
          </p:cNvPr>
          <p:cNvSpPr>
            <a:spLocks noGrp="1"/>
          </p:cNvSpPr>
          <p:nvPr>
            <p:ph idx="1"/>
          </p:nvPr>
        </p:nvSpPr>
        <p:spPr/>
        <p:txBody>
          <a:bodyPr/>
          <a:lstStyle/>
          <a:p>
            <a:r>
              <a:rPr lang="en-US" dirty="0"/>
              <a:t>The </a:t>
            </a:r>
            <a:r>
              <a:rPr lang="en-US" dirty="0" err="1"/>
              <a:t>attiny</a:t>
            </a:r>
            <a:r>
              <a:rPr lang="en-US" dirty="0"/>
              <a:t> has stupid low sleep current like 500nA…</a:t>
            </a:r>
          </a:p>
          <a:p>
            <a:pPr lvl="1"/>
            <a:r>
              <a:rPr lang="en-US" dirty="0"/>
              <a:t>On-par with CR2032 self-discharge…</a:t>
            </a:r>
          </a:p>
          <a:p>
            <a:r>
              <a:rPr lang="en-US" dirty="0"/>
              <a:t>Why not just wire the piezo direct* into INT0 and use the internal clamping diodes handle the rest? Part count goes WAY down…</a:t>
            </a:r>
          </a:p>
          <a:p>
            <a:pPr marL="0" indent="0">
              <a:buNone/>
            </a:pPr>
            <a:endParaRPr lang="en-US" dirty="0"/>
          </a:p>
        </p:txBody>
      </p:sp>
      <p:pic>
        <p:nvPicPr>
          <p:cNvPr id="5" name="Picture 4">
            <a:extLst>
              <a:ext uri="{FF2B5EF4-FFF2-40B4-BE49-F238E27FC236}">
                <a16:creationId xmlns:a16="http://schemas.microsoft.com/office/drawing/2014/main" id="{80BB206C-DA93-0D60-7463-F8E5F367D72C}"/>
              </a:ext>
            </a:extLst>
          </p:cNvPr>
          <p:cNvPicPr>
            <a:picLocks noChangeAspect="1"/>
          </p:cNvPicPr>
          <p:nvPr/>
        </p:nvPicPr>
        <p:blipFill>
          <a:blip r:embed="rId2"/>
          <a:stretch>
            <a:fillRect/>
          </a:stretch>
        </p:blipFill>
        <p:spPr>
          <a:xfrm>
            <a:off x="2816225" y="3794417"/>
            <a:ext cx="6559550" cy="2698458"/>
          </a:xfrm>
          <a:prstGeom prst="rect">
            <a:avLst/>
          </a:prstGeom>
        </p:spPr>
      </p:pic>
      <p:sp>
        <p:nvSpPr>
          <p:cNvPr id="6" name="TextBox 5">
            <a:extLst>
              <a:ext uri="{FF2B5EF4-FFF2-40B4-BE49-F238E27FC236}">
                <a16:creationId xmlns:a16="http://schemas.microsoft.com/office/drawing/2014/main" id="{6CB15A46-FBE4-E602-227B-9B48E86C3FBD}"/>
              </a:ext>
            </a:extLst>
          </p:cNvPr>
          <p:cNvSpPr txBox="1"/>
          <p:nvPr/>
        </p:nvSpPr>
        <p:spPr>
          <a:xfrm>
            <a:off x="633672" y="6488668"/>
            <a:ext cx="4365106" cy="369332"/>
          </a:xfrm>
          <a:prstGeom prst="rect">
            <a:avLst/>
          </a:prstGeom>
          <a:noFill/>
        </p:spPr>
        <p:txBody>
          <a:bodyPr wrap="none" rtlCol="0">
            <a:spAutoFit/>
          </a:bodyPr>
          <a:lstStyle/>
          <a:p>
            <a:r>
              <a:rPr lang="en-US" dirty="0"/>
              <a:t>*Still want R6 here to limit diode current…</a:t>
            </a:r>
          </a:p>
        </p:txBody>
      </p:sp>
    </p:spTree>
    <p:extLst>
      <p:ext uri="{BB962C8B-B14F-4D97-AF65-F5344CB8AC3E}">
        <p14:creationId xmlns:p14="http://schemas.microsoft.com/office/powerpoint/2010/main" val="8208873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288D-5BD7-925C-2781-9C1EC8FDE152}"/>
              </a:ext>
            </a:extLst>
          </p:cNvPr>
          <p:cNvSpPr>
            <a:spLocks noGrp="1"/>
          </p:cNvSpPr>
          <p:nvPr>
            <p:ph type="title"/>
          </p:nvPr>
        </p:nvSpPr>
        <p:spPr/>
        <p:txBody>
          <a:bodyPr/>
          <a:lstStyle/>
          <a:p>
            <a:r>
              <a:rPr lang="en-US" dirty="0"/>
              <a:t>Circuit Mods…on PCBs I already have…</a:t>
            </a:r>
          </a:p>
        </p:txBody>
      </p:sp>
      <p:pic>
        <p:nvPicPr>
          <p:cNvPr id="5" name="Content Placeholder 4">
            <a:extLst>
              <a:ext uri="{FF2B5EF4-FFF2-40B4-BE49-F238E27FC236}">
                <a16:creationId xmlns:a16="http://schemas.microsoft.com/office/drawing/2014/main" id="{016745B1-CF70-1C0F-79A7-4AD3C526FA3F}"/>
              </a:ext>
            </a:extLst>
          </p:cNvPr>
          <p:cNvPicPr>
            <a:picLocks noGrp="1" noChangeAspect="1"/>
          </p:cNvPicPr>
          <p:nvPr>
            <p:ph idx="1"/>
          </p:nvPr>
        </p:nvPicPr>
        <p:blipFill>
          <a:blip r:embed="rId2"/>
          <a:stretch>
            <a:fillRect/>
          </a:stretch>
        </p:blipFill>
        <p:spPr>
          <a:xfrm>
            <a:off x="2358532" y="1825625"/>
            <a:ext cx="7474936" cy="4351338"/>
          </a:xfrm>
          <a:prstGeom prst="rect">
            <a:avLst/>
          </a:prstGeom>
        </p:spPr>
      </p:pic>
    </p:spTree>
    <p:extLst>
      <p:ext uri="{BB962C8B-B14F-4D97-AF65-F5344CB8AC3E}">
        <p14:creationId xmlns:p14="http://schemas.microsoft.com/office/powerpoint/2010/main" val="2011940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B295C-659A-3583-4CA7-A936D6E460C9}"/>
              </a:ext>
            </a:extLst>
          </p:cNvPr>
          <p:cNvSpPr>
            <a:spLocks noGrp="1"/>
          </p:cNvSpPr>
          <p:nvPr>
            <p:ph type="title"/>
          </p:nvPr>
        </p:nvSpPr>
        <p:spPr/>
        <p:txBody>
          <a:bodyPr/>
          <a:lstStyle/>
          <a:p>
            <a:r>
              <a:rPr lang="en-US" dirty="0"/>
              <a:t>Programming Changes</a:t>
            </a:r>
          </a:p>
        </p:txBody>
      </p:sp>
      <p:sp>
        <p:nvSpPr>
          <p:cNvPr id="3" name="Content Placeholder 2">
            <a:extLst>
              <a:ext uri="{FF2B5EF4-FFF2-40B4-BE49-F238E27FC236}">
                <a16:creationId xmlns:a16="http://schemas.microsoft.com/office/drawing/2014/main" id="{B84C8AB1-C034-B9A4-E354-FFF0E8B37A59}"/>
              </a:ext>
            </a:extLst>
          </p:cNvPr>
          <p:cNvSpPr>
            <a:spLocks noGrp="1"/>
          </p:cNvSpPr>
          <p:nvPr>
            <p:ph idx="1"/>
          </p:nvPr>
        </p:nvSpPr>
        <p:spPr/>
        <p:txBody>
          <a:bodyPr/>
          <a:lstStyle/>
          <a:p>
            <a:r>
              <a:rPr lang="en-US" dirty="0"/>
              <a:t>PB2 needs pull-up turned on for sleep mode between pulses.</a:t>
            </a:r>
          </a:p>
          <a:p>
            <a:r>
              <a:rPr lang="en-US" dirty="0"/>
              <a:t>PB2 is also the interrupt from deep sleep. </a:t>
            </a:r>
          </a:p>
          <a:p>
            <a:r>
              <a:rPr lang="en-US" dirty="0"/>
              <a:t>PB2 is really the star of the show here.</a:t>
            </a:r>
          </a:p>
          <a:p>
            <a:r>
              <a:rPr lang="en-US" dirty="0"/>
              <a:t>PB2 is love, PB2 is life. </a:t>
            </a:r>
          </a:p>
          <a:p>
            <a:r>
              <a:rPr lang="en-US" dirty="0">
                <a:hlinkClick r:id="rId2"/>
              </a:rPr>
              <a:t>https://chatgpt.com/share/69bf128c-7c8c-8001-9b17-0a67c42d7913</a:t>
            </a:r>
            <a:endParaRPr lang="en-US" dirty="0"/>
          </a:p>
          <a:p>
            <a:endParaRPr lang="en-US" dirty="0"/>
          </a:p>
          <a:p>
            <a:endParaRPr lang="en-US" dirty="0"/>
          </a:p>
        </p:txBody>
      </p:sp>
    </p:spTree>
    <p:extLst>
      <p:ext uri="{BB962C8B-B14F-4D97-AF65-F5344CB8AC3E}">
        <p14:creationId xmlns:p14="http://schemas.microsoft.com/office/powerpoint/2010/main" val="23145665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B95C-D50F-71EC-292D-5B8069FA500C}"/>
              </a:ext>
            </a:extLst>
          </p:cNvPr>
          <p:cNvSpPr>
            <a:spLocks noGrp="1"/>
          </p:cNvSpPr>
          <p:nvPr>
            <p:ph type="title"/>
          </p:nvPr>
        </p:nvSpPr>
        <p:spPr/>
        <p:txBody>
          <a:bodyPr/>
          <a:lstStyle/>
          <a:p>
            <a:r>
              <a:rPr lang="en-US" dirty="0"/>
              <a:t>It works! Wow. Here’s my schematic</a:t>
            </a:r>
          </a:p>
        </p:txBody>
      </p:sp>
      <p:pic>
        <p:nvPicPr>
          <p:cNvPr id="5" name="Picture 4">
            <a:extLst>
              <a:ext uri="{FF2B5EF4-FFF2-40B4-BE49-F238E27FC236}">
                <a16:creationId xmlns:a16="http://schemas.microsoft.com/office/drawing/2014/main" id="{1E287CD1-99C0-B88F-8999-06F24594F5A0}"/>
              </a:ext>
            </a:extLst>
          </p:cNvPr>
          <p:cNvPicPr>
            <a:picLocks noChangeAspect="1"/>
          </p:cNvPicPr>
          <p:nvPr/>
        </p:nvPicPr>
        <p:blipFill>
          <a:blip r:embed="rId2"/>
          <a:stretch>
            <a:fillRect/>
          </a:stretch>
        </p:blipFill>
        <p:spPr>
          <a:xfrm>
            <a:off x="0" y="1446151"/>
            <a:ext cx="12192000" cy="5411849"/>
          </a:xfrm>
          <a:prstGeom prst="rect">
            <a:avLst/>
          </a:prstGeom>
        </p:spPr>
      </p:pic>
    </p:spTree>
    <p:extLst>
      <p:ext uri="{BB962C8B-B14F-4D97-AF65-F5344CB8AC3E}">
        <p14:creationId xmlns:p14="http://schemas.microsoft.com/office/powerpoint/2010/main" val="3791880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60516-CF50-BFD6-EE5C-D34C363D47BE}"/>
              </a:ext>
            </a:extLst>
          </p:cNvPr>
          <p:cNvSpPr>
            <a:spLocks noGrp="1"/>
          </p:cNvSpPr>
          <p:nvPr>
            <p:ph type="title"/>
          </p:nvPr>
        </p:nvSpPr>
        <p:spPr/>
        <p:txBody>
          <a:bodyPr/>
          <a:lstStyle/>
          <a:p>
            <a:r>
              <a:rPr lang="en-US" dirty="0"/>
              <a:t>Improvements and to-dos</a:t>
            </a:r>
          </a:p>
        </p:txBody>
      </p:sp>
      <p:sp>
        <p:nvSpPr>
          <p:cNvPr id="3" name="Content Placeholder 2">
            <a:extLst>
              <a:ext uri="{FF2B5EF4-FFF2-40B4-BE49-F238E27FC236}">
                <a16:creationId xmlns:a16="http://schemas.microsoft.com/office/drawing/2014/main" id="{CD3927CA-9A48-65E1-11DC-85DD94829522}"/>
              </a:ext>
            </a:extLst>
          </p:cNvPr>
          <p:cNvSpPr>
            <a:spLocks noGrp="1"/>
          </p:cNvSpPr>
          <p:nvPr>
            <p:ph idx="1"/>
          </p:nvPr>
        </p:nvSpPr>
        <p:spPr/>
        <p:txBody>
          <a:bodyPr>
            <a:normAutofit lnSpcReduction="10000"/>
          </a:bodyPr>
          <a:lstStyle/>
          <a:p>
            <a:r>
              <a:rPr lang="en-US" strike="sngStrike" dirty="0"/>
              <a:t>SW1 “Test” needs a 10k current limiting resistor, same with SW4 (from 1k). </a:t>
            </a:r>
          </a:p>
          <a:p>
            <a:r>
              <a:rPr lang="en-US" dirty="0"/>
              <a:t>Still need to probe interrupt line to check for major voltage violations. 20 ohms may not be enough. </a:t>
            </a:r>
          </a:p>
          <a:p>
            <a:r>
              <a:rPr lang="en-US" dirty="0"/>
              <a:t>Don’t want additional disturbances to disable sensor. Would probably want to move disable function to an unused pin like reset (no additional code!). </a:t>
            </a:r>
          </a:p>
          <a:p>
            <a:r>
              <a:rPr lang="en-US" dirty="0"/>
              <a:t>100k pulldown arbitrary. </a:t>
            </a:r>
          </a:p>
          <a:p>
            <a:r>
              <a:rPr lang="en-US" dirty="0"/>
              <a:t>Remove decoupling caps and see what happens. </a:t>
            </a:r>
          </a:p>
          <a:p>
            <a:r>
              <a:rPr lang="en-US" dirty="0"/>
              <a:t>Keep pads for R&amp;C sensitivity adjustment. </a:t>
            </a:r>
          </a:p>
        </p:txBody>
      </p:sp>
    </p:spTree>
    <p:extLst>
      <p:ext uri="{BB962C8B-B14F-4D97-AF65-F5344CB8AC3E}">
        <p14:creationId xmlns:p14="http://schemas.microsoft.com/office/powerpoint/2010/main" val="1353952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8DED-ED37-0685-3CA9-747A4B176BF0}"/>
              </a:ext>
            </a:extLst>
          </p:cNvPr>
          <p:cNvSpPr>
            <a:spLocks noGrp="1"/>
          </p:cNvSpPr>
          <p:nvPr>
            <p:ph type="title"/>
          </p:nvPr>
        </p:nvSpPr>
        <p:spPr/>
        <p:txBody>
          <a:bodyPr/>
          <a:lstStyle/>
          <a:p>
            <a:r>
              <a:rPr lang="en-US" dirty="0"/>
              <a:t>Update to last slide: </a:t>
            </a:r>
          </a:p>
        </p:txBody>
      </p:sp>
      <p:sp>
        <p:nvSpPr>
          <p:cNvPr id="3" name="Content Placeholder 2">
            <a:extLst>
              <a:ext uri="{FF2B5EF4-FFF2-40B4-BE49-F238E27FC236}">
                <a16:creationId xmlns:a16="http://schemas.microsoft.com/office/drawing/2014/main" id="{D2EC448C-6A6A-5939-250A-64E982984B2B}"/>
              </a:ext>
            </a:extLst>
          </p:cNvPr>
          <p:cNvSpPr>
            <a:spLocks noGrp="1"/>
          </p:cNvSpPr>
          <p:nvPr>
            <p:ph idx="1"/>
          </p:nvPr>
        </p:nvSpPr>
        <p:spPr/>
        <p:txBody>
          <a:bodyPr/>
          <a:lstStyle/>
          <a:p>
            <a:r>
              <a:rPr lang="en-US" dirty="0"/>
              <a:t>Runs fine with no decoupling caps. </a:t>
            </a:r>
          </a:p>
          <a:p>
            <a:r>
              <a:rPr lang="en-US" dirty="0"/>
              <a:t>Reset switch to reset pin works a treat. </a:t>
            </a:r>
          </a:p>
          <a:p>
            <a:r>
              <a:rPr lang="en-US" dirty="0"/>
              <a:t>80uA </a:t>
            </a:r>
            <a:r>
              <a:rPr lang="en-US" dirty="0">
                <a:sym typeface="Wingdings" panose="05000000000000000000" pitchFamily="2" charset="2"/>
              </a:rPr>
              <a:t> 4uA deep sleep once I cleaned off my filthy flux. </a:t>
            </a:r>
          </a:p>
          <a:p>
            <a:pPr lvl="1"/>
            <a:r>
              <a:rPr lang="en-US" dirty="0">
                <a:sym typeface="Wingdings" panose="05000000000000000000" pitchFamily="2" charset="2"/>
              </a:rPr>
              <a:t>6.3 years of idle (ideally) </a:t>
            </a:r>
          </a:p>
          <a:p>
            <a:pPr lvl="1"/>
            <a:r>
              <a:rPr lang="en-US" dirty="0">
                <a:sym typeface="Wingdings" panose="05000000000000000000" pitchFamily="2" charset="2"/>
              </a:rPr>
              <a:t>Self-discharge of a CR2032 gets us to like 2-5 years. </a:t>
            </a:r>
          </a:p>
          <a:p>
            <a:pPr lvl="1"/>
            <a:r>
              <a:rPr lang="en-US" dirty="0">
                <a:sym typeface="Wingdings" panose="05000000000000000000" pitchFamily="2" charset="2"/>
              </a:rPr>
              <a:t>Chef’s Kiss. </a:t>
            </a:r>
          </a:p>
          <a:p>
            <a:r>
              <a:rPr lang="en-US" dirty="0">
                <a:sym typeface="Wingdings" panose="05000000000000000000" pitchFamily="2" charset="2"/>
              </a:rPr>
              <a:t>Let’s measure voltage on PB2 when a trap goes </a:t>
            </a:r>
            <a:r>
              <a:rPr lang="en-US">
                <a:sym typeface="Wingdings" panose="05000000000000000000" pitchFamily="2" charset="2"/>
              </a:rPr>
              <a:t>off next. </a:t>
            </a:r>
            <a:endParaRPr lang="en-US" dirty="0"/>
          </a:p>
        </p:txBody>
      </p:sp>
    </p:spTree>
    <p:extLst>
      <p:ext uri="{BB962C8B-B14F-4D97-AF65-F5344CB8AC3E}">
        <p14:creationId xmlns:p14="http://schemas.microsoft.com/office/powerpoint/2010/main" val="2001393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B27A-8DA2-DD83-5918-14DE1638C5F3}"/>
              </a:ext>
            </a:extLst>
          </p:cNvPr>
          <p:cNvSpPr>
            <a:spLocks noGrp="1"/>
          </p:cNvSpPr>
          <p:nvPr>
            <p:ph type="title"/>
          </p:nvPr>
        </p:nvSpPr>
        <p:spPr/>
        <p:txBody>
          <a:bodyPr/>
          <a:lstStyle/>
          <a:p>
            <a:r>
              <a:rPr lang="en-US" dirty="0"/>
              <a:t>Let’s work on a programming Jig for V4</a:t>
            </a:r>
          </a:p>
        </p:txBody>
      </p:sp>
      <p:sp>
        <p:nvSpPr>
          <p:cNvPr id="3" name="Content Placeholder 2">
            <a:extLst>
              <a:ext uri="{FF2B5EF4-FFF2-40B4-BE49-F238E27FC236}">
                <a16:creationId xmlns:a16="http://schemas.microsoft.com/office/drawing/2014/main" id="{43B8705A-C97A-45BA-4973-FC6B7EA331EB}"/>
              </a:ext>
            </a:extLst>
          </p:cNvPr>
          <p:cNvSpPr>
            <a:spLocks noGrp="1"/>
          </p:cNvSpPr>
          <p:nvPr>
            <p:ph idx="1"/>
          </p:nvPr>
        </p:nvSpPr>
        <p:spPr/>
        <p:txBody>
          <a:bodyPr>
            <a:normAutofit fontScale="77500" lnSpcReduction="20000"/>
          </a:bodyPr>
          <a:lstStyle/>
          <a:p>
            <a:r>
              <a:rPr lang="en-US" dirty="0"/>
              <a:t>Insert PCB</a:t>
            </a:r>
          </a:p>
          <a:p>
            <a:r>
              <a:rPr lang="en-US" dirty="0"/>
              <a:t>Press the Test button to begin programming/QC sequence</a:t>
            </a:r>
          </a:p>
          <a:p>
            <a:r>
              <a:rPr lang="en-US" dirty="0"/>
              <a:t>Program at 5V</a:t>
            </a:r>
          </a:p>
          <a:p>
            <a:r>
              <a:rPr lang="en-US" dirty="0"/>
              <a:t>Shutdown (don’t want to burn out LED)</a:t>
            </a:r>
          </a:p>
          <a:p>
            <a:r>
              <a:rPr lang="en-US" dirty="0"/>
              <a:t>Apply 3V to 3V Rail</a:t>
            </a:r>
          </a:p>
          <a:p>
            <a:r>
              <a:rPr lang="en-US" dirty="0"/>
              <a:t>Tap Piezo and measure analog voltage on PZ+</a:t>
            </a:r>
          </a:p>
          <a:p>
            <a:pPr lvl="1"/>
            <a:r>
              <a:rPr lang="en-US" dirty="0"/>
              <a:t>Hopefully this triggers the unit </a:t>
            </a:r>
          </a:p>
          <a:p>
            <a:r>
              <a:rPr lang="en-US" dirty="0"/>
              <a:t>If the unit doesn’t trigger, we can apply power to the </a:t>
            </a:r>
            <a:r>
              <a:rPr lang="en-US" dirty="0" err="1"/>
              <a:t>Latched_Power</a:t>
            </a:r>
            <a:r>
              <a:rPr lang="en-US" dirty="0"/>
              <a:t> Rail</a:t>
            </a:r>
          </a:p>
          <a:p>
            <a:r>
              <a:rPr lang="en-US" dirty="0"/>
              <a:t>Read Phototransistor on LED</a:t>
            </a:r>
          </a:p>
          <a:p>
            <a:r>
              <a:rPr lang="en-US" dirty="0"/>
              <a:t>Read Analog Voltage on </a:t>
            </a:r>
            <a:r>
              <a:rPr lang="en-US" dirty="0" err="1"/>
              <a:t>NGate</a:t>
            </a:r>
            <a:endParaRPr lang="en-US" dirty="0"/>
          </a:p>
          <a:p>
            <a:r>
              <a:rPr lang="en-US" dirty="0"/>
              <a:t>Press Reset Button</a:t>
            </a:r>
          </a:p>
          <a:p>
            <a:r>
              <a:rPr lang="en-US" dirty="0"/>
              <a:t>Test Pass</a:t>
            </a:r>
          </a:p>
        </p:txBody>
      </p:sp>
    </p:spTree>
    <p:extLst>
      <p:ext uri="{BB962C8B-B14F-4D97-AF65-F5344CB8AC3E}">
        <p14:creationId xmlns:p14="http://schemas.microsoft.com/office/powerpoint/2010/main" val="2376613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5759-5033-EB03-F327-619DBCBDBBB3}"/>
              </a:ext>
            </a:extLst>
          </p:cNvPr>
          <p:cNvSpPr>
            <a:spLocks noGrp="1"/>
          </p:cNvSpPr>
          <p:nvPr>
            <p:ph type="title"/>
          </p:nvPr>
        </p:nvSpPr>
        <p:spPr/>
        <p:txBody>
          <a:bodyPr/>
          <a:lstStyle/>
          <a:p>
            <a:r>
              <a:rPr lang="en-US" dirty="0"/>
              <a:t>Visual Sequence</a:t>
            </a:r>
          </a:p>
        </p:txBody>
      </p:sp>
      <p:sp>
        <p:nvSpPr>
          <p:cNvPr id="4" name="Rectangle: Rounded Corners 3">
            <a:extLst>
              <a:ext uri="{FF2B5EF4-FFF2-40B4-BE49-F238E27FC236}">
                <a16:creationId xmlns:a16="http://schemas.microsoft.com/office/drawing/2014/main" id="{A9F8BF55-AA9C-86E8-508B-78CE66CEE3EA}"/>
              </a:ext>
            </a:extLst>
          </p:cNvPr>
          <p:cNvSpPr/>
          <p:nvPr/>
        </p:nvSpPr>
        <p:spPr>
          <a:xfrm>
            <a:off x="2053390" y="1890676"/>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Insert PCB into Jig</a:t>
            </a:r>
          </a:p>
        </p:txBody>
      </p:sp>
      <p:sp>
        <p:nvSpPr>
          <p:cNvPr id="5" name="Rectangle: Rounded Corners 4">
            <a:extLst>
              <a:ext uri="{FF2B5EF4-FFF2-40B4-BE49-F238E27FC236}">
                <a16:creationId xmlns:a16="http://schemas.microsoft.com/office/drawing/2014/main" id="{A89FDD6C-EEAA-67CC-8D88-3179E8F0DD40}"/>
              </a:ext>
            </a:extLst>
          </p:cNvPr>
          <p:cNvSpPr/>
          <p:nvPr/>
        </p:nvSpPr>
        <p:spPr>
          <a:xfrm>
            <a:off x="3631247" y="1890676"/>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Press “Test” Button to Start</a:t>
            </a:r>
          </a:p>
        </p:txBody>
      </p:sp>
      <p:sp>
        <p:nvSpPr>
          <p:cNvPr id="7" name="Rectangle: Rounded Corners 6">
            <a:extLst>
              <a:ext uri="{FF2B5EF4-FFF2-40B4-BE49-F238E27FC236}">
                <a16:creationId xmlns:a16="http://schemas.microsoft.com/office/drawing/2014/main" id="{CD78245C-2E5C-6873-04DB-E7ED479FF143}"/>
              </a:ext>
            </a:extLst>
          </p:cNvPr>
          <p:cNvSpPr/>
          <p:nvPr/>
        </p:nvSpPr>
        <p:spPr>
          <a:xfrm>
            <a:off x="475533" y="1890676"/>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Apply 5V on Battery Pin</a:t>
            </a:r>
          </a:p>
        </p:txBody>
      </p:sp>
      <p:sp>
        <p:nvSpPr>
          <p:cNvPr id="8" name="Diamond 7">
            <a:extLst>
              <a:ext uri="{FF2B5EF4-FFF2-40B4-BE49-F238E27FC236}">
                <a16:creationId xmlns:a16="http://schemas.microsoft.com/office/drawing/2014/main" id="{3ADB03C4-CC2A-DF71-65C7-1833F4C532C5}"/>
              </a:ext>
            </a:extLst>
          </p:cNvPr>
          <p:cNvSpPr/>
          <p:nvPr/>
        </p:nvSpPr>
        <p:spPr>
          <a:xfrm>
            <a:off x="5369520" y="1890676"/>
            <a:ext cx="1354414" cy="914400"/>
          </a:xfrm>
          <a:prstGeom prst="diamond">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Program Success?</a:t>
            </a:r>
          </a:p>
        </p:txBody>
      </p:sp>
      <p:sp>
        <p:nvSpPr>
          <p:cNvPr id="9" name="Rectangle: Rounded Corners 8">
            <a:extLst>
              <a:ext uri="{FF2B5EF4-FFF2-40B4-BE49-F238E27FC236}">
                <a16:creationId xmlns:a16="http://schemas.microsoft.com/office/drawing/2014/main" id="{479DEBF3-98B4-C12C-518B-63C46B7F3AFA}"/>
              </a:ext>
            </a:extLst>
          </p:cNvPr>
          <p:cNvSpPr/>
          <p:nvPr/>
        </p:nvSpPr>
        <p:spPr>
          <a:xfrm>
            <a:off x="5448585" y="3138525"/>
            <a:ext cx="1196283" cy="47782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LED = RED</a:t>
            </a:r>
          </a:p>
          <a:p>
            <a:pPr algn="ctr"/>
            <a:r>
              <a:rPr lang="en-US" sz="1400" dirty="0"/>
              <a:t>ERROR MSG</a:t>
            </a:r>
          </a:p>
        </p:txBody>
      </p:sp>
      <p:cxnSp>
        <p:nvCxnSpPr>
          <p:cNvPr id="11" name="Straight Arrow Connector 10">
            <a:extLst>
              <a:ext uri="{FF2B5EF4-FFF2-40B4-BE49-F238E27FC236}">
                <a16:creationId xmlns:a16="http://schemas.microsoft.com/office/drawing/2014/main" id="{677B479F-A114-E46A-FE83-1D8D6CBE9CB1}"/>
              </a:ext>
            </a:extLst>
          </p:cNvPr>
          <p:cNvCxnSpPr>
            <a:stCxn id="5" idx="3"/>
            <a:endCxn id="8" idx="1"/>
          </p:cNvCxnSpPr>
          <p:nvPr/>
        </p:nvCxnSpPr>
        <p:spPr>
          <a:xfrm>
            <a:off x="4827530" y="2347876"/>
            <a:ext cx="541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4E5D8C2-4F61-E8FC-F356-A9B925BE96B0}"/>
              </a:ext>
            </a:extLst>
          </p:cNvPr>
          <p:cNvCxnSpPr>
            <a:stCxn id="8" idx="2"/>
            <a:endCxn id="9" idx="0"/>
          </p:cNvCxnSpPr>
          <p:nvPr/>
        </p:nvCxnSpPr>
        <p:spPr>
          <a:xfrm>
            <a:off x="6046727" y="2805076"/>
            <a:ext cx="0" cy="3334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B64C8394-5D86-8840-3C05-04870127E2E8}"/>
              </a:ext>
            </a:extLst>
          </p:cNvPr>
          <p:cNvSpPr/>
          <p:nvPr/>
        </p:nvSpPr>
        <p:spPr>
          <a:xfrm>
            <a:off x="7265924" y="1890676"/>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Disable 5V Power, Apply 3V</a:t>
            </a:r>
          </a:p>
        </p:txBody>
      </p:sp>
      <p:cxnSp>
        <p:nvCxnSpPr>
          <p:cNvPr id="16" name="Straight Arrow Connector 15">
            <a:extLst>
              <a:ext uri="{FF2B5EF4-FFF2-40B4-BE49-F238E27FC236}">
                <a16:creationId xmlns:a16="http://schemas.microsoft.com/office/drawing/2014/main" id="{3A4CC66C-B0FD-92DE-7C57-B7C8EFFE019B}"/>
              </a:ext>
            </a:extLst>
          </p:cNvPr>
          <p:cNvCxnSpPr>
            <a:stCxn id="7" idx="3"/>
            <a:endCxn id="4" idx="1"/>
          </p:cNvCxnSpPr>
          <p:nvPr/>
        </p:nvCxnSpPr>
        <p:spPr>
          <a:xfrm>
            <a:off x="1671816" y="2347876"/>
            <a:ext cx="3815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4800178-BB84-23F0-01AF-80E011978C90}"/>
              </a:ext>
            </a:extLst>
          </p:cNvPr>
          <p:cNvCxnSpPr>
            <a:stCxn id="4" idx="3"/>
            <a:endCxn id="5" idx="1"/>
          </p:cNvCxnSpPr>
          <p:nvPr/>
        </p:nvCxnSpPr>
        <p:spPr>
          <a:xfrm>
            <a:off x="3249673" y="2347876"/>
            <a:ext cx="3323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822543A-1CBC-D346-EA71-B3238A3B3FCB}"/>
              </a:ext>
            </a:extLst>
          </p:cNvPr>
          <p:cNvCxnSpPr>
            <a:stCxn id="8" idx="3"/>
            <a:endCxn id="14" idx="1"/>
          </p:cNvCxnSpPr>
          <p:nvPr/>
        </p:nvCxnSpPr>
        <p:spPr>
          <a:xfrm>
            <a:off x="6723934" y="2347876"/>
            <a:ext cx="541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Diamond 22">
            <a:extLst>
              <a:ext uri="{FF2B5EF4-FFF2-40B4-BE49-F238E27FC236}">
                <a16:creationId xmlns:a16="http://schemas.microsoft.com/office/drawing/2014/main" id="{B4CFE568-1594-2FFC-B607-B9207EC18663}"/>
              </a:ext>
            </a:extLst>
          </p:cNvPr>
          <p:cNvSpPr/>
          <p:nvPr/>
        </p:nvSpPr>
        <p:spPr>
          <a:xfrm>
            <a:off x="9004197" y="1890676"/>
            <a:ext cx="1354414" cy="914400"/>
          </a:xfrm>
          <a:prstGeom prst="diamond">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Solenoid Tap Power On?</a:t>
            </a:r>
          </a:p>
        </p:txBody>
      </p:sp>
      <p:sp>
        <p:nvSpPr>
          <p:cNvPr id="24" name="Rectangle: Rounded Corners 23">
            <a:extLst>
              <a:ext uri="{FF2B5EF4-FFF2-40B4-BE49-F238E27FC236}">
                <a16:creationId xmlns:a16="http://schemas.microsoft.com/office/drawing/2014/main" id="{D0B6DCF3-8349-1D6E-411C-45819D1DF93C}"/>
              </a:ext>
            </a:extLst>
          </p:cNvPr>
          <p:cNvSpPr/>
          <p:nvPr/>
        </p:nvSpPr>
        <p:spPr>
          <a:xfrm>
            <a:off x="9079830" y="3138525"/>
            <a:ext cx="1196283" cy="47782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LED = RED</a:t>
            </a:r>
          </a:p>
          <a:p>
            <a:pPr algn="ctr"/>
            <a:r>
              <a:rPr lang="en-US" sz="1400" dirty="0"/>
              <a:t>ERROR MSG</a:t>
            </a:r>
          </a:p>
        </p:txBody>
      </p:sp>
      <p:cxnSp>
        <p:nvCxnSpPr>
          <p:cNvPr id="25" name="Straight Arrow Connector 24">
            <a:extLst>
              <a:ext uri="{FF2B5EF4-FFF2-40B4-BE49-F238E27FC236}">
                <a16:creationId xmlns:a16="http://schemas.microsoft.com/office/drawing/2014/main" id="{D40073AF-0802-215C-2320-41AFA02C2F38}"/>
              </a:ext>
            </a:extLst>
          </p:cNvPr>
          <p:cNvCxnSpPr>
            <a:endCxn id="24" idx="0"/>
          </p:cNvCxnSpPr>
          <p:nvPr/>
        </p:nvCxnSpPr>
        <p:spPr>
          <a:xfrm>
            <a:off x="9677972" y="2805076"/>
            <a:ext cx="0" cy="3334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8ED20FD-C61F-C06F-30F2-DDE18B79F92B}"/>
              </a:ext>
            </a:extLst>
          </p:cNvPr>
          <p:cNvCxnSpPr>
            <a:stCxn id="14" idx="3"/>
            <a:endCxn id="23" idx="1"/>
          </p:cNvCxnSpPr>
          <p:nvPr/>
        </p:nvCxnSpPr>
        <p:spPr>
          <a:xfrm>
            <a:off x="8462207" y="2347876"/>
            <a:ext cx="5419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EF1DE665-67D6-678B-3797-C2789F0C9A63}"/>
              </a:ext>
            </a:extLst>
          </p:cNvPr>
          <p:cNvCxnSpPr>
            <a:cxnSpLocks/>
            <a:stCxn id="23" idx="3"/>
            <a:endCxn id="32" idx="0"/>
          </p:cNvCxnSpPr>
          <p:nvPr/>
        </p:nvCxnSpPr>
        <p:spPr>
          <a:xfrm flipH="1">
            <a:off x="2572466" y="2347876"/>
            <a:ext cx="7786145" cy="1705048"/>
          </a:xfrm>
          <a:prstGeom prst="bentConnector4">
            <a:avLst>
              <a:gd name="adj1" fmla="val -2936"/>
              <a:gd name="adj2" fmla="val 84375"/>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Diamond 31">
            <a:extLst>
              <a:ext uri="{FF2B5EF4-FFF2-40B4-BE49-F238E27FC236}">
                <a16:creationId xmlns:a16="http://schemas.microsoft.com/office/drawing/2014/main" id="{97E98C99-A582-7AB3-80ED-9821DAE30CA7}"/>
              </a:ext>
            </a:extLst>
          </p:cNvPr>
          <p:cNvSpPr/>
          <p:nvPr/>
        </p:nvSpPr>
        <p:spPr>
          <a:xfrm>
            <a:off x="1895259" y="4052924"/>
            <a:ext cx="1354414" cy="914400"/>
          </a:xfrm>
          <a:prstGeom prst="diamond">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LED Blinking?</a:t>
            </a:r>
          </a:p>
        </p:txBody>
      </p:sp>
      <p:sp>
        <p:nvSpPr>
          <p:cNvPr id="33" name="Rectangle: Rounded Corners 32">
            <a:extLst>
              <a:ext uri="{FF2B5EF4-FFF2-40B4-BE49-F238E27FC236}">
                <a16:creationId xmlns:a16="http://schemas.microsoft.com/office/drawing/2014/main" id="{D7327421-7AC9-6189-E0FA-F945D33631B3}"/>
              </a:ext>
            </a:extLst>
          </p:cNvPr>
          <p:cNvSpPr/>
          <p:nvPr/>
        </p:nvSpPr>
        <p:spPr>
          <a:xfrm>
            <a:off x="1974324" y="5300772"/>
            <a:ext cx="1196283" cy="47782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LED = RED</a:t>
            </a:r>
          </a:p>
          <a:p>
            <a:pPr algn="ctr"/>
            <a:r>
              <a:rPr lang="en-US" sz="1400" dirty="0"/>
              <a:t>ERROR MSG</a:t>
            </a:r>
          </a:p>
        </p:txBody>
      </p:sp>
      <p:cxnSp>
        <p:nvCxnSpPr>
          <p:cNvPr id="34" name="Straight Arrow Connector 33">
            <a:extLst>
              <a:ext uri="{FF2B5EF4-FFF2-40B4-BE49-F238E27FC236}">
                <a16:creationId xmlns:a16="http://schemas.microsoft.com/office/drawing/2014/main" id="{7033AECE-8F6C-C78B-8941-956AC38F8E84}"/>
              </a:ext>
            </a:extLst>
          </p:cNvPr>
          <p:cNvCxnSpPr>
            <a:endCxn id="33" idx="0"/>
          </p:cNvCxnSpPr>
          <p:nvPr/>
        </p:nvCxnSpPr>
        <p:spPr>
          <a:xfrm>
            <a:off x="2572466" y="4967323"/>
            <a:ext cx="0" cy="3334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D2EC68B8-1AF6-FA43-24F5-A57E53A7BECC}"/>
              </a:ext>
            </a:extLst>
          </p:cNvPr>
          <p:cNvSpPr/>
          <p:nvPr/>
        </p:nvSpPr>
        <p:spPr>
          <a:xfrm>
            <a:off x="3631247" y="4052924"/>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Press “RST” Button</a:t>
            </a:r>
          </a:p>
        </p:txBody>
      </p:sp>
      <p:cxnSp>
        <p:nvCxnSpPr>
          <p:cNvPr id="39" name="Straight Arrow Connector 38">
            <a:extLst>
              <a:ext uri="{FF2B5EF4-FFF2-40B4-BE49-F238E27FC236}">
                <a16:creationId xmlns:a16="http://schemas.microsoft.com/office/drawing/2014/main" id="{D6108753-2160-2754-C369-49C953A13789}"/>
              </a:ext>
            </a:extLst>
          </p:cNvPr>
          <p:cNvCxnSpPr>
            <a:stCxn id="32" idx="3"/>
            <a:endCxn id="37" idx="1"/>
          </p:cNvCxnSpPr>
          <p:nvPr/>
        </p:nvCxnSpPr>
        <p:spPr>
          <a:xfrm>
            <a:off x="3249673" y="4510124"/>
            <a:ext cx="38157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Diamond 41">
            <a:extLst>
              <a:ext uri="{FF2B5EF4-FFF2-40B4-BE49-F238E27FC236}">
                <a16:creationId xmlns:a16="http://schemas.microsoft.com/office/drawing/2014/main" id="{A0B93D4C-C488-C217-CB53-386641D137F6}"/>
              </a:ext>
            </a:extLst>
          </p:cNvPr>
          <p:cNvSpPr/>
          <p:nvPr/>
        </p:nvSpPr>
        <p:spPr>
          <a:xfrm>
            <a:off x="5369520" y="4052922"/>
            <a:ext cx="1354414" cy="914400"/>
          </a:xfrm>
          <a:prstGeom prst="diamond">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NGATE Goes Low?</a:t>
            </a:r>
          </a:p>
        </p:txBody>
      </p:sp>
      <p:sp>
        <p:nvSpPr>
          <p:cNvPr id="43" name="Rectangle: Rounded Corners 42">
            <a:extLst>
              <a:ext uri="{FF2B5EF4-FFF2-40B4-BE49-F238E27FC236}">
                <a16:creationId xmlns:a16="http://schemas.microsoft.com/office/drawing/2014/main" id="{1F6013AF-3203-66EC-6DB8-D5630782D8D7}"/>
              </a:ext>
            </a:extLst>
          </p:cNvPr>
          <p:cNvSpPr/>
          <p:nvPr/>
        </p:nvSpPr>
        <p:spPr>
          <a:xfrm>
            <a:off x="5448584" y="5300771"/>
            <a:ext cx="1196283" cy="47782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LED = RED</a:t>
            </a:r>
          </a:p>
          <a:p>
            <a:pPr algn="ctr"/>
            <a:r>
              <a:rPr lang="en-US" sz="1400" dirty="0"/>
              <a:t>ERROR MSG</a:t>
            </a:r>
          </a:p>
        </p:txBody>
      </p:sp>
      <p:cxnSp>
        <p:nvCxnSpPr>
          <p:cNvPr id="44" name="Straight Arrow Connector 43">
            <a:extLst>
              <a:ext uri="{FF2B5EF4-FFF2-40B4-BE49-F238E27FC236}">
                <a16:creationId xmlns:a16="http://schemas.microsoft.com/office/drawing/2014/main" id="{087391E9-979A-59ED-B133-D00B926CDC4B}"/>
              </a:ext>
            </a:extLst>
          </p:cNvPr>
          <p:cNvCxnSpPr>
            <a:cxnSpLocks/>
            <a:stCxn id="42" idx="2"/>
            <a:endCxn id="43" idx="0"/>
          </p:cNvCxnSpPr>
          <p:nvPr/>
        </p:nvCxnSpPr>
        <p:spPr>
          <a:xfrm flipH="1">
            <a:off x="6046726" y="4967322"/>
            <a:ext cx="1" cy="3334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AA5D51AC-D2EF-8A6A-65D5-AA457615588C}"/>
              </a:ext>
            </a:extLst>
          </p:cNvPr>
          <p:cNvCxnSpPr>
            <a:cxnSpLocks/>
            <a:stCxn id="42" idx="3"/>
            <a:endCxn id="51" idx="1"/>
          </p:cNvCxnSpPr>
          <p:nvPr/>
        </p:nvCxnSpPr>
        <p:spPr>
          <a:xfrm>
            <a:off x="6723934" y="4510122"/>
            <a:ext cx="5397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AF9376F0-C964-2922-D2EA-71C5F314582A}"/>
              </a:ext>
            </a:extLst>
          </p:cNvPr>
          <p:cNvCxnSpPr>
            <a:stCxn id="37" idx="3"/>
            <a:endCxn id="42" idx="1"/>
          </p:cNvCxnSpPr>
          <p:nvPr/>
        </p:nvCxnSpPr>
        <p:spPr>
          <a:xfrm flipV="1">
            <a:off x="4827530" y="4510122"/>
            <a:ext cx="541990"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4B2F014F-0BE4-88B1-D445-7C760335BEF1}"/>
              </a:ext>
            </a:extLst>
          </p:cNvPr>
          <p:cNvSpPr/>
          <p:nvPr/>
        </p:nvSpPr>
        <p:spPr>
          <a:xfrm>
            <a:off x="7263639" y="4052922"/>
            <a:ext cx="119628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TEST PASS</a:t>
            </a:r>
          </a:p>
        </p:txBody>
      </p:sp>
      <p:cxnSp>
        <p:nvCxnSpPr>
          <p:cNvPr id="54" name="Connector: Elbow 53">
            <a:extLst>
              <a:ext uri="{FF2B5EF4-FFF2-40B4-BE49-F238E27FC236}">
                <a16:creationId xmlns:a16="http://schemas.microsoft.com/office/drawing/2014/main" id="{2C5E71A9-0081-C838-9701-0CD87914D99B}"/>
              </a:ext>
            </a:extLst>
          </p:cNvPr>
          <p:cNvCxnSpPr>
            <a:stCxn id="51" idx="2"/>
            <a:endCxn id="7" idx="2"/>
          </p:cNvCxnSpPr>
          <p:nvPr/>
        </p:nvCxnSpPr>
        <p:spPr>
          <a:xfrm rot="5400000" flipH="1">
            <a:off x="3386605" y="492146"/>
            <a:ext cx="2162246" cy="6788106"/>
          </a:xfrm>
          <a:prstGeom prst="bentConnector3">
            <a:avLst>
              <a:gd name="adj1" fmla="val -624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7480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423C-683F-6832-12E2-DBE8598AE5C8}"/>
              </a:ext>
            </a:extLst>
          </p:cNvPr>
          <p:cNvSpPr>
            <a:spLocks noGrp="1"/>
          </p:cNvSpPr>
          <p:nvPr>
            <p:ph type="title"/>
          </p:nvPr>
        </p:nvSpPr>
        <p:spPr/>
        <p:txBody>
          <a:bodyPr/>
          <a:lstStyle/>
          <a:p>
            <a:r>
              <a:rPr lang="en-US" dirty="0"/>
              <a:t>QTY 50 ARRIVED 4/2/2025</a:t>
            </a:r>
          </a:p>
        </p:txBody>
      </p:sp>
      <p:sp>
        <p:nvSpPr>
          <p:cNvPr id="3" name="Content Placeholder 2">
            <a:extLst>
              <a:ext uri="{FF2B5EF4-FFF2-40B4-BE49-F238E27FC236}">
                <a16:creationId xmlns:a16="http://schemas.microsoft.com/office/drawing/2014/main" id="{7B668AB0-9F8E-6AA0-B746-16E634453307}"/>
              </a:ext>
            </a:extLst>
          </p:cNvPr>
          <p:cNvSpPr>
            <a:spLocks noGrp="1"/>
          </p:cNvSpPr>
          <p:nvPr>
            <p:ph idx="1"/>
          </p:nvPr>
        </p:nvSpPr>
        <p:spPr/>
        <p:txBody>
          <a:bodyPr/>
          <a:lstStyle/>
          <a:p>
            <a:r>
              <a:rPr lang="en-US" dirty="0"/>
              <a:t>They work!</a:t>
            </a:r>
          </a:p>
          <a:p>
            <a:r>
              <a:rPr lang="en-US"/>
              <a:t>783uA average (3v)!</a:t>
            </a:r>
          </a:p>
          <a:p>
            <a:endParaRPr lang="en-US"/>
          </a:p>
        </p:txBody>
      </p:sp>
    </p:spTree>
    <p:extLst>
      <p:ext uri="{BB962C8B-B14F-4D97-AF65-F5344CB8AC3E}">
        <p14:creationId xmlns:p14="http://schemas.microsoft.com/office/powerpoint/2010/main" val="14603554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BC52A-05D4-71C3-D7B1-D35C95E75389}"/>
              </a:ext>
            </a:extLst>
          </p:cNvPr>
          <p:cNvSpPr>
            <a:spLocks noGrp="1"/>
          </p:cNvSpPr>
          <p:nvPr>
            <p:ph type="title"/>
          </p:nvPr>
        </p:nvSpPr>
        <p:spPr/>
        <p:txBody>
          <a:bodyPr/>
          <a:lstStyle/>
          <a:p>
            <a:r>
              <a:rPr lang="en-US" dirty="0"/>
              <a:t>POGO Pinout</a:t>
            </a:r>
          </a:p>
        </p:txBody>
      </p:sp>
      <p:sp>
        <p:nvSpPr>
          <p:cNvPr id="4" name="Rectangle 3">
            <a:extLst>
              <a:ext uri="{FF2B5EF4-FFF2-40B4-BE49-F238E27FC236}">
                <a16:creationId xmlns:a16="http://schemas.microsoft.com/office/drawing/2014/main" id="{82EE8133-1C19-E531-50E5-30D4E57AC93A}"/>
              </a:ext>
            </a:extLst>
          </p:cNvPr>
          <p:cNvSpPr/>
          <p:nvPr/>
        </p:nvSpPr>
        <p:spPr>
          <a:xfrm>
            <a:off x="838199" y="1773797"/>
            <a:ext cx="9976471" cy="4111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C0B820D-E7D3-F81E-96D8-FAEBD1A23F32}"/>
              </a:ext>
            </a:extLst>
          </p:cNvPr>
          <p:cNvSpPr/>
          <p:nvPr/>
        </p:nvSpPr>
        <p:spPr>
          <a:xfrm>
            <a:off x="990025" y="190474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RST</a:t>
            </a:r>
          </a:p>
        </p:txBody>
      </p:sp>
      <p:sp>
        <p:nvSpPr>
          <p:cNvPr id="6" name="Rectangle 5">
            <a:extLst>
              <a:ext uri="{FF2B5EF4-FFF2-40B4-BE49-F238E27FC236}">
                <a16:creationId xmlns:a16="http://schemas.microsoft.com/office/drawing/2014/main" id="{350C51A4-4EC2-62E6-352E-19EC6009DA0C}"/>
              </a:ext>
            </a:extLst>
          </p:cNvPr>
          <p:cNvSpPr/>
          <p:nvPr/>
        </p:nvSpPr>
        <p:spPr>
          <a:xfrm>
            <a:off x="6096000" y="3115031"/>
            <a:ext cx="825023" cy="142889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3R</a:t>
            </a:r>
          </a:p>
          <a:p>
            <a:pPr algn="ctr"/>
            <a:r>
              <a:rPr lang="en-US" dirty="0"/>
              <a:t>LC</a:t>
            </a:r>
          </a:p>
          <a:p>
            <a:pPr algn="ctr"/>
            <a:r>
              <a:rPr lang="en-US" dirty="0"/>
              <a:t>PD</a:t>
            </a:r>
          </a:p>
          <a:p>
            <a:pPr algn="ctr"/>
            <a:r>
              <a:rPr lang="en-US" dirty="0"/>
              <a:t>GN</a:t>
            </a:r>
          </a:p>
        </p:txBody>
      </p:sp>
      <p:sp>
        <p:nvSpPr>
          <p:cNvPr id="7" name="TextBox 6">
            <a:extLst>
              <a:ext uri="{FF2B5EF4-FFF2-40B4-BE49-F238E27FC236}">
                <a16:creationId xmlns:a16="http://schemas.microsoft.com/office/drawing/2014/main" id="{54207643-9788-3E15-C248-E2DC7FFD17D9}"/>
              </a:ext>
            </a:extLst>
          </p:cNvPr>
          <p:cNvSpPr txBox="1"/>
          <p:nvPr/>
        </p:nvSpPr>
        <p:spPr>
          <a:xfrm>
            <a:off x="5297828" y="1404464"/>
            <a:ext cx="1057212" cy="369332"/>
          </a:xfrm>
          <a:prstGeom prst="rect">
            <a:avLst/>
          </a:prstGeom>
          <a:noFill/>
        </p:spPr>
        <p:txBody>
          <a:bodyPr wrap="none" rtlCol="0">
            <a:spAutoFit/>
          </a:bodyPr>
          <a:lstStyle/>
          <a:p>
            <a:r>
              <a:rPr lang="en-US" dirty="0"/>
              <a:t>Top View</a:t>
            </a:r>
          </a:p>
        </p:txBody>
      </p:sp>
      <p:sp>
        <p:nvSpPr>
          <p:cNvPr id="8" name="Rectangle 7">
            <a:extLst>
              <a:ext uri="{FF2B5EF4-FFF2-40B4-BE49-F238E27FC236}">
                <a16:creationId xmlns:a16="http://schemas.microsoft.com/office/drawing/2014/main" id="{D3840A5B-54FC-C3A5-2138-F685A3294CD0}"/>
              </a:ext>
            </a:extLst>
          </p:cNvPr>
          <p:cNvSpPr/>
          <p:nvPr/>
        </p:nvSpPr>
        <p:spPr>
          <a:xfrm>
            <a:off x="990027" y="239807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Batt</a:t>
            </a:r>
          </a:p>
        </p:txBody>
      </p:sp>
      <p:sp>
        <p:nvSpPr>
          <p:cNvPr id="9" name="Rectangle 8">
            <a:extLst>
              <a:ext uri="{FF2B5EF4-FFF2-40B4-BE49-F238E27FC236}">
                <a16:creationId xmlns:a16="http://schemas.microsoft.com/office/drawing/2014/main" id="{A1EE4131-2973-EB80-E57E-4160BD1C9F9F}"/>
              </a:ext>
            </a:extLst>
          </p:cNvPr>
          <p:cNvSpPr/>
          <p:nvPr/>
        </p:nvSpPr>
        <p:spPr>
          <a:xfrm>
            <a:off x="990027" y="289140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CLK</a:t>
            </a:r>
            <a:endParaRPr lang="en-US" sz="1200" dirty="0"/>
          </a:p>
        </p:txBody>
      </p:sp>
      <p:sp>
        <p:nvSpPr>
          <p:cNvPr id="10" name="Rectangle 9">
            <a:extLst>
              <a:ext uri="{FF2B5EF4-FFF2-40B4-BE49-F238E27FC236}">
                <a16:creationId xmlns:a16="http://schemas.microsoft.com/office/drawing/2014/main" id="{E836C275-1BB7-8ACF-3B4C-26B24E5A9B9B}"/>
              </a:ext>
            </a:extLst>
          </p:cNvPr>
          <p:cNvSpPr/>
          <p:nvPr/>
        </p:nvSpPr>
        <p:spPr>
          <a:xfrm>
            <a:off x="990027" y="338473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GND</a:t>
            </a:r>
          </a:p>
        </p:txBody>
      </p:sp>
      <p:sp>
        <p:nvSpPr>
          <p:cNvPr id="11" name="Rectangle 10">
            <a:extLst>
              <a:ext uri="{FF2B5EF4-FFF2-40B4-BE49-F238E27FC236}">
                <a16:creationId xmlns:a16="http://schemas.microsoft.com/office/drawing/2014/main" id="{426DFF85-4CE1-1673-4A57-155EB8E88041}"/>
              </a:ext>
            </a:extLst>
          </p:cNvPr>
          <p:cNvSpPr/>
          <p:nvPr/>
        </p:nvSpPr>
        <p:spPr>
          <a:xfrm>
            <a:off x="990026" y="387806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Latched</a:t>
            </a:r>
          </a:p>
        </p:txBody>
      </p:sp>
      <p:sp>
        <p:nvSpPr>
          <p:cNvPr id="12" name="Rectangle 11">
            <a:extLst>
              <a:ext uri="{FF2B5EF4-FFF2-40B4-BE49-F238E27FC236}">
                <a16:creationId xmlns:a16="http://schemas.microsoft.com/office/drawing/2014/main" id="{6EFA8B34-D900-26B0-6CEC-52997D479145}"/>
              </a:ext>
            </a:extLst>
          </p:cNvPr>
          <p:cNvSpPr/>
          <p:nvPr/>
        </p:nvSpPr>
        <p:spPr>
          <a:xfrm>
            <a:off x="990026" y="437139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DATA</a:t>
            </a:r>
          </a:p>
        </p:txBody>
      </p:sp>
      <p:sp>
        <p:nvSpPr>
          <p:cNvPr id="13" name="Rectangle 12">
            <a:extLst>
              <a:ext uri="{FF2B5EF4-FFF2-40B4-BE49-F238E27FC236}">
                <a16:creationId xmlns:a16="http://schemas.microsoft.com/office/drawing/2014/main" id="{F1F2CD2E-485A-3CB5-CBC4-ADB93FEBE8AB}"/>
              </a:ext>
            </a:extLst>
          </p:cNvPr>
          <p:cNvSpPr/>
          <p:nvPr/>
        </p:nvSpPr>
        <p:spPr>
          <a:xfrm>
            <a:off x="990026" y="486472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PZ</a:t>
            </a:r>
          </a:p>
        </p:txBody>
      </p:sp>
      <p:sp>
        <p:nvSpPr>
          <p:cNvPr id="14" name="Rectangle 13">
            <a:extLst>
              <a:ext uri="{FF2B5EF4-FFF2-40B4-BE49-F238E27FC236}">
                <a16:creationId xmlns:a16="http://schemas.microsoft.com/office/drawing/2014/main" id="{EC4F1E8F-6709-8640-6BCF-379EFA701F22}"/>
              </a:ext>
            </a:extLst>
          </p:cNvPr>
          <p:cNvSpPr/>
          <p:nvPr/>
        </p:nvSpPr>
        <p:spPr>
          <a:xfrm>
            <a:off x="990026" y="5358056"/>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NGATE</a:t>
            </a:r>
          </a:p>
        </p:txBody>
      </p:sp>
      <p:sp>
        <p:nvSpPr>
          <p:cNvPr id="15" name="Rectangle 14">
            <a:extLst>
              <a:ext uri="{FF2B5EF4-FFF2-40B4-BE49-F238E27FC236}">
                <a16:creationId xmlns:a16="http://schemas.microsoft.com/office/drawing/2014/main" id="{D487B470-53A2-93B6-2860-60377284A6DE}"/>
              </a:ext>
            </a:extLst>
          </p:cNvPr>
          <p:cNvSpPr/>
          <p:nvPr/>
        </p:nvSpPr>
        <p:spPr>
          <a:xfrm>
            <a:off x="1966878" y="289140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CLK</a:t>
            </a:r>
            <a:endParaRPr lang="en-US" sz="1200" dirty="0"/>
          </a:p>
        </p:txBody>
      </p:sp>
      <p:sp>
        <p:nvSpPr>
          <p:cNvPr id="16" name="Rectangle 15">
            <a:extLst>
              <a:ext uri="{FF2B5EF4-FFF2-40B4-BE49-F238E27FC236}">
                <a16:creationId xmlns:a16="http://schemas.microsoft.com/office/drawing/2014/main" id="{70BA17C0-1C2C-10F9-9582-3A94379F3D6D}"/>
              </a:ext>
            </a:extLst>
          </p:cNvPr>
          <p:cNvSpPr/>
          <p:nvPr/>
        </p:nvSpPr>
        <p:spPr>
          <a:xfrm>
            <a:off x="1966878" y="338473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GND</a:t>
            </a:r>
          </a:p>
        </p:txBody>
      </p:sp>
      <p:sp>
        <p:nvSpPr>
          <p:cNvPr id="17" name="Rectangle 16">
            <a:extLst>
              <a:ext uri="{FF2B5EF4-FFF2-40B4-BE49-F238E27FC236}">
                <a16:creationId xmlns:a16="http://schemas.microsoft.com/office/drawing/2014/main" id="{27E744EF-9EBB-1B97-66F9-CF290C3292F4}"/>
              </a:ext>
            </a:extLst>
          </p:cNvPr>
          <p:cNvSpPr/>
          <p:nvPr/>
        </p:nvSpPr>
        <p:spPr>
          <a:xfrm>
            <a:off x="1966876" y="3878069"/>
            <a:ext cx="825023" cy="40563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Latched</a:t>
            </a:r>
          </a:p>
        </p:txBody>
      </p:sp>
      <p:pic>
        <p:nvPicPr>
          <p:cNvPr id="18" name="Picture 2" descr="Cable for outputting the ATMEL ICE v2 programmer signals - Kamami on-line  store">
            <a:extLst>
              <a:ext uri="{FF2B5EF4-FFF2-40B4-BE49-F238E27FC236}">
                <a16:creationId xmlns:a16="http://schemas.microsoft.com/office/drawing/2014/main" id="{FCAF72F2-7906-547F-314D-11F383A7D5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51023" y="5067547"/>
            <a:ext cx="7950951" cy="5884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476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9106</TotalTime>
  <Words>2096</Words>
  <Application>Microsoft Office PowerPoint</Application>
  <PresentationFormat>Widescreen</PresentationFormat>
  <Paragraphs>333</Paragraphs>
  <Slides>51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Aptos</vt:lpstr>
      <vt:lpstr>Aptos Display</vt:lpstr>
      <vt:lpstr>Arial</vt:lpstr>
      <vt:lpstr>Wingdings</vt:lpstr>
      <vt:lpstr>Office Theme</vt:lpstr>
      <vt:lpstr>Mouse Minder</vt:lpstr>
      <vt:lpstr>Requirements</vt:lpstr>
      <vt:lpstr>First Prototype</vt:lpstr>
      <vt:lpstr>Prototype Notes</vt:lpstr>
      <vt:lpstr>Plan</vt:lpstr>
      <vt:lpstr>Schematic</vt:lpstr>
      <vt:lpstr>Second Prototype</vt:lpstr>
      <vt:lpstr>Third Prototype Plan</vt:lpstr>
      <vt:lpstr>1) Electrical Tests On 2nd Prototype</vt:lpstr>
      <vt:lpstr>1) Electrical Tests On 2nd Prototype</vt:lpstr>
      <vt:lpstr>2) Electrical Tests On 2nd Prototype</vt:lpstr>
      <vt:lpstr>3) Electrical Tests On 2nd Prototype</vt:lpstr>
      <vt:lpstr>4) Electrical Tests On 2nd Prototype</vt:lpstr>
      <vt:lpstr>5) Electrical Tests On 2nd Prototype</vt:lpstr>
      <vt:lpstr>5) Electrical Tests On 2nd Prototype</vt:lpstr>
      <vt:lpstr>6) Electrical Tests On 2nd Prototype</vt:lpstr>
      <vt:lpstr>7) Let’s put R7 Back</vt:lpstr>
      <vt:lpstr>7) Let’s put R7 Back</vt:lpstr>
      <vt:lpstr>What do I do?</vt:lpstr>
      <vt:lpstr>Fake Mouse Measurement</vt:lpstr>
      <vt:lpstr>Real Mouse Measurement</vt:lpstr>
      <vt:lpstr>Real Mouse Measurement PT2</vt:lpstr>
      <vt:lpstr>I had a thought…</vt:lpstr>
      <vt:lpstr>R7 = 1k, C1=10n, Gentle Tap Test</vt:lpstr>
      <vt:lpstr>R7 = 1k, C1=10n, Trap Test</vt:lpstr>
      <vt:lpstr>Conclusive enough for me…</vt:lpstr>
      <vt:lpstr>AS-BUILT (JLC QTY 5)</vt:lpstr>
      <vt:lpstr>CHANGES TO MAKE</vt:lpstr>
      <vt:lpstr>Changes Made</vt:lpstr>
      <vt:lpstr>Low Power Testing</vt:lpstr>
      <vt:lpstr>PowerPoint Presentation</vt:lpstr>
      <vt:lpstr>QTY 50 is off to the races!</vt:lpstr>
      <vt:lpstr>ICE Pinout</vt:lpstr>
      <vt:lpstr>Sleep Studies</vt:lpstr>
      <vt:lpstr>OG CODE: </vt:lpstr>
      <vt:lpstr>ChatGPT “Sleeper Code”</vt:lpstr>
      <vt:lpstr>On-State Power Draws!</vt:lpstr>
      <vt:lpstr>Fixes…</vt:lpstr>
      <vt:lpstr>New Theoretical Sleep Draw</vt:lpstr>
      <vt:lpstr>Update: 3/20/2026</vt:lpstr>
      <vt:lpstr>Plot</vt:lpstr>
      <vt:lpstr>Dumb idea…3/21/2026</vt:lpstr>
      <vt:lpstr>Circuit Mods…on PCBs I already have…</vt:lpstr>
      <vt:lpstr>Programming Changes</vt:lpstr>
      <vt:lpstr>It works! Wow. Here’s my schematic</vt:lpstr>
      <vt:lpstr>Improvements and to-dos</vt:lpstr>
      <vt:lpstr>Update to last slide: </vt:lpstr>
      <vt:lpstr>Let’s work on a programming Jig for V4</vt:lpstr>
      <vt:lpstr>Visual Sequence</vt:lpstr>
      <vt:lpstr>QTY 50 ARRIVED 4/2/2025</vt:lpstr>
      <vt:lpstr>POGO Pinout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Conrad Farnsworth</dc:creator>
  <cp:lastModifiedBy>Conrad Farnsworth</cp:lastModifiedBy>
  <cp:revision>2</cp:revision>
  <cp:lastPrinted>2026-03-23T03:08:39Z</cp:lastPrinted>
  <dcterms:created xsi:type="dcterms:W3CDTF">2026-01-26T02:51:02Z</dcterms:created>
  <dcterms:modified xsi:type="dcterms:W3CDTF">2026-04-10T01:30:02Z</dcterms:modified>
</cp:coreProperties>
</file>